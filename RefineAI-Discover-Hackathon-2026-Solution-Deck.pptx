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sldIdLst>
    <p:sldId id="300" r:id="rId900"/>
    <p:sldId id="301" r:id="rId901"/>
    <p:sldId id="302" r:id="rId902"/>
    <p:sldId id="303" r:id="rId903"/>
    <p:sldId id="304" r:id="rId904"/>
    <p:sldId id="305" r:id="rId905"/>
    <p:sldId id="306" r:id="rId906"/>
    <p:sldId id="307" r:id="rId907"/>
    <p:sldId id="308" r:id="rId908"/>
    <p:sldId id="309" r:id="rId909"/>
    <p:sldId id="310" r:id="rId910"/>
    <p:sldId id="311" r:id="rId911"/>
    <p:sldId id="312" r:id="rId912"/>
    <p:sldId id="313" r:id="rId913"/>
    <p:sldId id="314" r:id="rId9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620" y="60"/>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3"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notesMaster" Target="notesMasters/notesMaster1.xml"/><Relationship Id="rId15" Type="http://schemas.openxmlformats.org/officeDocument/2006/relationships/tableStyles" Target="tableStyles.xml"/><Relationship Id="rId4" Type="http://schemas.openxmlformats.org/officeDocument/2006/relationships/slideMaster" Target="slideMasters/slideMaster1.xml"/><Relationship Id="rId14" Type="http://schemas.openxmlformats.org/officeDocument/2006/relationships/theme" Target="theme/theme1.xml"/><Relationship Id="rId900" Type="http://schemas.openxmlformats.org/officeDocument/2006/relationships/slide" Target="slides/slide1.xml"/><Relationship Id="rId901" Type="http://schemas.openxmlformats.org/officeDocument/2006/relationships/slide" Target="slides/slide2.xml"/><Relationship Id="rId902" Type="http://schemas.openxmlformats.org/officeDocument/2006/relationships/slide" Target="slides/slide3.xml"/><Relationship Id="rId903" Type="http://schemas.openxmlformats.org/officeDocument/2006/relationships/slide" Target="slides/slide4.xml"/><Relationship Id="rId904" Type="http://schemas.openxmlformats.org/officeDocument/2006/relationships/slide" Target="slides/slide5.xml"/><Relationship Id="rId905" Type="http://schemas.openxmlformats.org/officeDocument/2006/relationships/slide" Target="slides/slide6.xml"/><Relationship Id="rId906" Type="http://schemas.openxmlformats.org/officeDocument/2006/relationships/slide" Target="slides/slide7.xml"/><Relationship Id="rId907" Type="http://schemas.openxmlformats.org/officeDocument/2006/relationships/slide" Target="slides/slide8.xml"/><Relationship Id="rId908" Type="http://schemas.openxmlformats.org/officeDocument/2006/relationships/slide" Target="slides/slide9.xml"/><Relationship Id="rId909" Type="http://schemas.openxmlformats.org/officeDocument/2006/relationships/slide" Target="slides/slide10.xml"/><Relationship Id="rId910" Type="http://schemas.openxmlformats.org/officeDocument/2006/relationships/slide" Target="slides/slide11.xml"/><Relationship Id="rId911" Type="http://schemas.openxmlformats.org/officeDocument/2006/relationships/slide" Target="slides/slide12.xml"/><Relationship Id="rId912" Type="http://schemas.openxmlformats.org/officeDocument/2006/relationships/slide" Target="slides/slide13.xml"/><Relationship Id="rId913" Type="http://schemas.openxmlformats.org/officeDocument/2006/relationships/slide" Target="slides/slide14.xml"/><Relationship Id="rId914"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313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F_MASTER">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8124F"/>
          </a:solidFill>
          <a:ln w="12700">
            <a:solidFill>
              <a:srgbClr val="08124F"/>
            </a:solidFill>
            <a:prstDash val="solid"/>
          </a:ln>
        </p:spPr>
        <p:txBody>
          <a:bodyPr/>
          <a:lstStyle/>
          <a:p>
            <a:endParaRPr lang="en-IN"/>
          </a:p>
        </p:txBody>
      </p:sp>
      <p:sp>
        <p:nvSpPr>
          <p:cNvPr id="3" name="Text 1"/>
          <p:cNvSpPr/>
          <p:nvPr/>
        </p:nvSpPr>
        <p:spPr>
          <a:xfrm>
            <a:off x="10287000" y="6473952"/>
            <a:ext cx="1508760" cy="164592"/>
          </a:xfrm>
          <a:prstGeom prst="rect">
            <a:avLst/>
          </a:prstGeom>
          <a:noFill/>
          <a:ln/>
        </p:spPr>
        <p:txBody>
          <a:bodyPr wrap="square" lIns="0" tIns="0" rIns="0" bIns="0" rtlCol="0" anchor="ctr"/>
          <a:lstStyle/>
          <a:p>
            <a:pPr marL="0" indent="0" algn="r">
              <a:buNone/>
            </a:pPr>
            <a:r>
              <a:rPr lang="en-US" sz="800" b="1" dirty="0">
                <a:solidFill>
                  <a:srgbClr val="6E789A"/>
                </a:solidFill>
                <a:latin typeface="Aptos" pitchFamily="34" charset="0"/>
                <a:ea typeface="Aptos" pitchFamily="34" charset="-122"/>
                <a:cs typeface="Aptos" pitchFamily="34" charset="-120"/>
              </a:rPr>
              <a:t>HACKFEST 2026</a:t>
            </a:r>
            <a:endParaRPr lang="en-US" sz="800" dirty="0"/>
          </a:p>
        </p:txBody>
      </p:sp>
      <p:sp>
        <p:nvSpPr>
          <p:cNvPr id="4" name="Shape 2"/>
          <p:cNvSpPr/>
          <p:nvPr/>
        </p:nvSpPr>
        <p:spPr>
          <a:xfrm>
            <a:off x="502920" y="6382512"/>
            <a:ext cx="11183112" cy="0"/>
          </a:xfrm>
          <a:prstGeom prst="line">
            <a:avLst/>
          </a:prstGeom>
          <a:noFill/>
          <a:ln w="12700">
            <a:solidFill>
              <a:srgbClr val="DCE1EE"/>
            </a:solidFill>
            <a:prstDash val="solid"/>
          </a:ln>
        </p:spPr>
        <p:txBody>
          <a:bodyPr/>
          <a:lstStyle/>
          <a:p>
            <a:endParaRPr lang="en-IN"/>
          </a:p>
        </p:txBody>
      </p:sp>
      <p:sp>
        <p:nvSpPr>
          <p:cNvPr id="25"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6_cover_illustration">
    <p:bg>
      <p:bgPr>
        <a:solidFill>
          <a:srgbClr val="292A3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Background pattern&#10;&#10;Description automatically generated">
            <a:extLst>
              <a:ext uri="{FF2B5EF4-FFF2-40B4-BE49-F238E27FC236}">
                <a16:creationId xmlns:a16="http://schemas.microsoft.com/office/drawing/2014/main" id="{DB788935-E7B2-2CAC-0048-B92417139B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6243803D-31FA-692F-1CDF-A332274BC332}"/>
              </a:ext>
            </a:extLst>
          </p:cNvPr>
          <p:cNvSpPr txBox="1"/>
          <p:nvPr/>
        </p:nvSpPr>
        <p:spPr>
          <a:xfrm>
            <a:off x="288558" y="6532236"/>
            <a:ext cx="2458455" cy="200055"/>
          </a:xfrm>
          <a:prstGeom prst="rect">
            <a:avLst/>
          </a:prstGeom>
          <a:noFill/>
        </p:spPr>
        <p:txBody>
          <a:bodyPr wrap="squar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a:solidFill>
                  <a:schemeClr val="tx1">
                    <a:lumMod val="40000"/>
                    <a:lumOff val="60000"/>
                  </a:schemeClr>
                </a:solidFill>
              </a:rPr>
              <a:t>© 2023 Nielsen Consumer LLC. All Rights Reserved.</a:t>
            </a:r>
          </a:p>
        </p:txBody>
      </p:sp>
      <p:sp>
        <p:nvSpPr>
          <p:cNvPr id="16" name="Title 1">
            <a:extLst>
              <a:ext uri="{FF2B5EF4-FFF2-40B4-BE49-F238E27FC236}">
                <a16:creationId xmlns:a16="http://schemas.microsoft.com/office/drawing/2014/main" id="{7987C027-455E-4C45-138D-8334F13BBEEA}"/>
              </a:ext>
            </a:extLst>
          </p:cNvPr>
          <p:cNvSpPr>
            <a:spLocks noGrp="1"/>
          </p:cNvSpPr>
          <p:nvPr>
            <p:ph type="ctrTitle" hasCustomPrompt="1"/>
          </p:nvPr>
        </p:nvSpPr>
        <p:spPr>
          <a:xfrm>
            <a:off x="288558" y="635035"/>
            <a:ext cx="8642082" cy="2387600"/>
          </a:xfrm>
          <a:prstGeom prst="rect">
            <a:avLst/>
          </a:prstGeom>
        </p:spPr>
        <p:txBody>
          <a:bodyPr anchor="b">
            <a:noAutofit/>
          </a:bodyPr>
          <a:lstStyle>
            <a:lvl1pPr algn="l">
              <a:defRPr sz="5400">
                <a:solidFill>
                  <a:schemeClr val="bg1"/>
                </a:solidFill>
              </a:defRPr>
            </a:lvl1pPr>
          </a:lstStyle>
          <a:p>
            <a:r>
              <a:rPr lang="en-US"/>
              <a:t>Insert your presentation title here maximum of three lines</a:t>
            </a:r>
          </a:p>
        </p:txBody>
      </p:sp>
      <p:sp>
        <p:nvSpPr>
          <p:cNvPr id="17" name="Subtitle 2">
            <a:extLst>
              <a:ext uri="{FF2B5EF4-FFF2-40B4-BE49-F238E27FC236}">
                <a16:creationId xmlns:a16="http://schemas.microsoft.com/office/drawing/2014/main" id="{A4501D72-EE3C-0DA6-BA4B-C1D78BA85AE8}"/>
              </a:ext>
            </a:extLst>
          </p:cNvPr>
          <p:cNvSpPr>
            <a:spLocks noGrp="1"/>
          </p:cNvSpPr>
          <p:nvPr>
            <p:ph type="subTitle" idx="1"/>
          </p:nvPr>
        </p:nvSpPr>
        <p:spPr>
          <a:xfrm>
            <a:off x="288558" y="3114710"/>
            <a:ext cx="8642082" cy="837882"/>
          </a:xfrm>
          <a:prstGeom prst="rect">
            <a:avLst/>
          </a:prstGeom>
        </p:spPr>
        <p:txBody>
          <a:bodyPr>
            <a:noAutofit/>
          </a:bodyPr>
          <a:lstStyle>
            <a:lvl1pPr marL="0" indent="0" algn="l">
              <a:spcBef>
                <a:spcPts val="0"/>
              </a:spcBef>
              <a:spcAft>
                <a:spcPts val="0"/>
              </a:spcAft>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8" name="Picture 17">
            <a:extLst>
              <a:ext uri="{FF2B5EF4-FFF2-40B4-BE49-F238E27FC236}">
                <a16:creationId xmlns:a16="http://schemas.microsoft.com/office/drawing/2014/main" id="{91255DA8-5A10-9683-AFED-A7964FA406C6}"/>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04801" y="5694428"/>
            <a:ext cx="1219198" cy="518807"/>
          </a:xfrm>
          <a:prstGeom prst="rect">
            <a:avLst/>
          </a:prstGeom>
        </p:spPr>
      </p:pic>
      <p:sp>
        <p:nvSpPr>
          <p:cNvPr id="2" name="Text Placeholder 17">
            <a:extLst>
              <a:ext uri="{FF2B5EF4-FFF2-40B4-BE49-F238E27FC236}">
                <a16:creationId xmlns:a16="http://schemas.microsoft.com/office/drawing/2014/main" id="{3417592A-6067-984F-549E-3833CDB76A54}"/>
              </a:ext>
            </a:extLst>
          </p:cNvPr>
          <p:cNvSpPr>
            <a:spLocks noGrp="1"/>
          </p:cNvSpPr>
          <p:nvPr>
            <p:ph type="body" sz="quarter" idx="10" hasCustomPrompt="1"/>
          </p:nvPr>
        </p:nvSpPr>
        <p:spPr>
          <a:xfrm>
            <a:off x="288559" y="4192468"/>
            <a:ext cx="8642082" cy="344384"/>
          </a:xfrm>
          <a:prstGeom prst="rect">
            <a:avLst/>
          </a:prstGeom>
        </p:spPr>
        <p:txBody>
          <a:bodyPr tIns="0" bIns="0" anchor="b" anchorCtr="0">
            <a:noAutofit/>
          </a:bodyPr>
          <a:lstStyle>
            <a:lvl1pPr marL="0" indent="0">
              <a:lnSpc>
                <a:spcPct val="100000"/>
              </a:lnSpc>
              <a:spcBef>
                <a:spcPts val="0"/>
              </a:spcBef>
              <a:spcAft>
                <a:spcPts val="0"/>
              </a:spcAft>
              <a:buNone/>
              <a:defRPr sz="1200" b="1">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First name Last name</a:t>
            </a:r>
          </a:p>
        </p:txBody>
      </p:sp>
      <p:sp>
        <p:nvSpPr>
          <p:cNvPr id="3" name="Text Placeholder 17">
            <a:extLst>
              <a:ext uri="{FF2B5EF4-FFF2-40B4-BE49-F238E27FC236}">
                <a16:creationId xmlns:a16="http://schemas.microsoft.com/office/drawing/2014/main" id="{DADB3285-032F-C5EA-E4E6-C62E075FF1F0}"/>
              </a:ext>
            </a:extLst>
          </p:cNvPr>
          <p:cNvSpPr>
            <a:spLocks noGrp="1"/>
          </p:cNvSpPr>
          <p:nvPr>
            <p:ph type="body" sz="quarter" idx="11" hasCustomPrompt="1"/>
          </p:nvPr>
        </p:nvSpPr>
        <p:spPr>
          <a:xfrm>
            <a:off x="288559" y="4560602"/>
            <a:ext cx="8642082" cy="344385"/>
          </a:xfrm>
          <a:prstGeom prst="rect">
            <a:avLst/>
          </a:prstGeom>
        </p:spPr>
        <p:txBody>
          <a:bodyPr tIns="0" bIns="0">
            <a:noAutofit/>
          </a:bodyPr>
          <a:lstStyle>
            <a:lvl1pPr marL="0" indent="0">
              <a:lnSpc>
                <a:spcPct val="100000"/>
              </a:lnSpc>
              <a:spcBef>
                <a:spcPts val="0"/>
              </a:spcBef>
              <a:spcAft>
                <a:spcPts val="0"/>
              </a:spcAft>
              <a:buNone/>
              <a:defRPr sz="1200" b="0">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Title/Department</a:t>
            </a:r>
          </a:p>
        </p:txBody>
      </p:sp>
      <p:sp>
        <p:nvSpPr>
          <p:cNvPr id="6" name="Text Placeholder 17">
            <a:extLst>
              <a:ext uri="{FF2B5EF4-FFF2-40B4-BE49-F238E27FC236}">
                <a16:creationId xmlns:a16="http://schemas.microsoft.com/office/drawing/2014/main" id="{D91FCFC2-D727-8EBA-2D19-E4EEAE93A971}"/>
              </a:ext>
            </a:extLst>
          </p:cNvPr>
          <p:cNvSpPr>
            <a:spLocks noGrp="1"/>
          </p:cNvSpPr>
          <p:nvPr>
            <p:ph type="body" sz="quarter" idx="12" hasCustomPrompt="1"/>
          </p:nvPr>
        </p:nvSpPr>
        <p:spPr>
          <a:xfrm>
            <a:off x="288559" y="5110167"/>
            <a:ext cx="8642082" cy="344385"/>
          </a:xfrm>
          <a:prstGeom prst="rect">
            <a:avLst/>
          </a:prstGeom>
        </p:spPr>
        <p:txBody>
          <a:bodyPr tIns="0" bIns="0">
            <a:noAutofit/>
          </a:bodyPr>
          <a:lstStyle>
            <a:lvl1pPr marL="0" indent="0">
              <a:lnSpc>
                <a:spcPct val="100000"/>
              </a:lnSpc>
              <a:spcBef>
                <a:spcPts val="0"/>
              </a:spcBef>
              <a:spcAft>
                <a:spcPts val="0"/>
              </a:spcAft>
              <a:buNone/>
              <a:defRPr sz="1200" b="0">
                <a:solidFill>
                  <a:schemeClr val="bg1"/>
                </a:solidFill>
              </a:defRPr>
            </a:lvl1pPr>
            <a:lvl2pPr marL="457200" indent="0">
              <a:buNone/>
              <a:defRPr sz="1200" b="1">
                <a:solidFill>
                  <a:schemeClr val="bg1"/>
                </a:solidFill>
              </a:defRPr>
            </a:lvl2pPr>
            <a:lvl3pPr marL="914400" indent="0">
              <a:buNone/>
              <a:defRPr sz="1200" b="1">
                <a:solidFill>
                  <a:schemeClr val="bg1"/>
                </a:solidFill>
              </a:defRPr>
            </a:lvl3pPr>
            <a:lvl4pPr marL="1371600" indent="0">
              <a:buNone/>
              <a:defRPr sz="1200" b="1">
                <a:solidFill>
                  <a:schemeClr val="bg1"/>
                </a:solidFill>
              </a:defRPr>
            </a:lvl4pPr>
            <a:lvl5pPr marL="1828800" indent="0">
              <a:buNone/>
              <a:defRPr sz="1200" b="1">
                <a:solidFill>
                  <a:schemeClr val="bg1"/>
                </a:solidFill>
              </a:defRPr>
            </a:lvl5pPr>
          </a:lstStyle>
          <a:p>
            <a:pPr lvl="0"/>
            <a:r>
              <a:rPr lang="en-US"/>
              <a:t>Date</a:t>
            </a:r>
          </a:p>
        </p:txBody>
      </p:sp>
    </p:spTree>
    <p:extLst>
      <p:ext uri="{BB962C8B-B14F-4D97-AF65-F5344CB8AC3E}">
        <p14:creationId xmlns:p14="http://schemas.microsoft.com/office/powerpoint/2010/main" val="2531417161"/>
      </p:ext>
    </p:extLst>
  </p:cSld>
  <p:clrMapOvr>
    <a:overrideClrMapping bg1="lt1" tx1="dk1" bg2="lt2" tx2="dk2" accent1="accent1" accent2="accent2" accent3="accent3" accent4="accent4" accent5="accent5" accent6="accent6" hlink="hlink" folHlink="folHlink"/>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41480" y="644652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5C2B3C7-96DB-9CB1-B976-7A4EF956DA5A}"/>
              </a:ext>
            </a:extLst>
          </p:cNvPr>
          <p:cNvSpPr/>
          <p:nvPr/>
        </p:nvSpPr>
        <p:spPr>
          <a:xfrm>
            <a:off x="7406640" y="228600"/>
            <a:ext cx="4160520" cy="438912"/>
          </a:xfrm>
          <a:prstGeom prst="rect">
            <a:avLst/>
          </a:prstGeom>
          <a:noFill/>
          <a:ln/>
        </p:spPr>
        <p:txBody>
          <a:bodyPr wrap="square" lIns="0" tIns="0" rIns="0" bIns="0" rtlCol="0" anchor="ctr">
            <a:normAutofit fontScale="92500"/>
          </a:bodyPr>
          <a:lstStyle/>
          <a:p>
            <a:pPr marL="0" indent="0" algn="r">
              <a:buNone/>
            </a:pPr>
            <a:r>
              <a:rPr lang="en-US" sz="3000" b="1" dirty="0">
                <a:solidFill>
                  <a:srgbClr val="FFFFFF"/>
                </a:solidFill>
              </a:rPr>
              <a:t>Discover Hackathon 2026</a:t>
            </a:r>
            <a:endParaRPr lang="en-US" sz="3000" b="1" dirty="0"/>
          </a:p>
        </p:txBody>
      </p:sp>
      <p:sp>
        <p:nvSpPr>
          <p:cNvPr id="6" name="Text 2">
            <a:extLst>
              <a:ext uri="{FF2B5EF4-FFF2-40B4-BE49-F238E27FC236}">
                <a16:creationId xmlns:a16="http://schemas.microsoft.com/office/drawing/2014/main" id="{049B5C7B-01D0-2D2D-0BA9-86D4216B6DCF}"/>
              </a:ext>
            </a:extLst>
          </p:cNvPr>
          <p:cNvSpPr/>
          <p:nvPr/>
        </p:nvSpPr>
        <p:spPr>
          <a:xfrm>
            <a:off x="8140588" y="667512"/>
            <a:ext cx="3426572" cy="283464"/>
          </a:xfrm>
          <a:prstGeom prst="rect">
            <a:avLst/>
          </a:prstGeom>
          <a:noFill/>
          <a:ln/>
        </p:spPr>
        <p:txBody>
          <a:bodyPr wrap="square" lIns="0" tIns="0" rIns="0" bIns="0" rtlCol="0" anchor="ctr"/>
          <a:lstStyle/>
          <a:p>
            <a:pPr marL="0" indent="0">
              <a:buNone/>
            </a:pPr>
            <a:r>
              <a:rPr lang="en-US" sz="1400" b="1" dirty="0">
                <a:solidFill>
                  <a:srgbClr val="A9BFFF"/>
                </a:solidFill>
              </a:rPr>
              <a:t>Team Alchemist  •  AI-Powered SDLC</a:t>
            </a:r>
          </a:p>
        </p:txBody>
      </p:sp>
      <p:sp>
        <p:nvSpPr>
          <p:cNvPr id="8" name="Text 1">
            <a:extLst>
              <a:ext uri="{FF2B5EF4-FFF2-40B4-BE49-F238E27FC236}">
                <a16:creationId xmlns:a16="http://schemas.microsoft.com/office/drawing/2014/main" id="{C0D318E5-DCBD-088D-763C-19720A6A7AAB}"/>
              </a:ext>
            </a:extLst>
          </p:cNvPr>
          <p:cNvSpPr/>
          <p:nvPr/>
        </p:nvSpPr>
        <p:spPr>
          <a:xfrm>
            <a:off x="7704697" y="5751576"/>
            <a:ext cx="4160520" cy="438912"/>
          </a:xfrm>
          <a:prstGeom prst="rect">
            <a:avLst/>
          </a:prstGeom>
          <a:noFill/>
          <a:ln/>
        </p:spPr>
        <p:txBody>
          <a:bodyPr wrap="square" lIns="0" tIns="0" rIns="0" bIns="0" rtlCol="0" anchor="ctr">
            <a:normAutofit fontScale="77500" lnSpcReduction="20000"/>
          </a:bodyPr>
          <a:lstStyle/>
          <a:p>
            <a:pPr marL="0" indent="0" algn="r">
              <a:buNone/>
            </a:pPr>
            <a:r>
              <a:rPr lang="en-US" sz="3000" b="1" dirty="0">
                <a:solidFill>
                  <a:srgbClr val="FFFFFF"/>
                </a:solidFill>
              </a:rPr>
              <a:t>Ignite Ideas. Build the future.</a:t>
            </a:r>
            <a:endParaRPr lang="en-US" sz="3000" b="1" dirty="0"/>
          </a:p>
        </p:txBody>
      </p:sp>
      <p:sp>
        <p:nvSpPr>
          <p:cNvPr id="10" name="Text 1">
            <a:extLst>
              <a:ext uri="{FF2B5EF4-FFF2-40B4-BE49-F238E27FC236}">
                <a16:creationId xmlns:a16="http://schemas.microsoft.com/office/drawing/2014/main" id="{364064EB-8F77-52B3-74A8-BF6DBCB6459A}"/>
              </a:ext>
            </a:extLst>
          </p:cNvPr>
          <p:cNvSpPr/>
          <p:nvPr/>
        </p:nvSpPr>
        <p:spPr>
          <a:xfrm>
            <a:off x="566928" y="4110000"/>
            <a:ext cx="7200000" cy="1300000"/>
          </a:xfrm>
          <a:prstGeom prst="rect">
            <a:avLst/>
          </a:prstGeom>
          <a:noFill/>
          <a:ln/>
        </p:spPr>
        <p:txBody>
          <a:bodyPr wrap="square" lIns="0" tIns="0" rIns="0" bIns="0" rtlCol="0" anchor="ctr">
            <a:normAutofit/>
          </a:bodyPr>
          <a:lstStyle/>
          <a:p>
            <a:pPr marL="0" indent="0">
              <a:buNone/>
            </a:pPr>
            <a:r>
              <a:rPr lang="en-US" sz="4800" b="1" dirty="0">
                <a:solidFill>
                  <a:srgbClr val="FFFFFF"/>
                </a:solidFill>
              </a:rPr>
              <a:t>RefineAI</a:t>
            </a:r>
          </a:p>
          <a:p>
            <a:pPr marL="0" indent="0">
              <a:spcBef>
                <a:spcPts val="300"/>
              </a:spcBef>
              <a:buNone/>
            </a:pPr>
            <a:r>
              <a:rPr lang="en-US" sz="1800" b="1" dirty="0">
                <a:solidFill>
                  <a:srgbClr val="A9BFFF"/>
                </a:solidFill>
              </a:rPr>
              <a:t>From Backlog to Release, Driven by AI</a:t>
            </a:r>
          </a:p>
          <a:p>
            <a:pPr marL="0" indent="0">
              <a:spcBef>
                <a:spcPts val="200"/>
              </a:spcBef>
              <a:buNone/>
            </a:pPr>
            <a:r>
              <a:rPr lang="en-US" sz="1200" b="0" dirty="0">
                <a:solidFill>
                  <a:srgbClr val="E5E9F7"/>
                </a:solidFill>
              </a:rPr>
              <a:t>An AI product delivery copilot for Jira, Teams and code</a:t>
            </a:r>
          </a:p>
        </p:txBody>
      </p:sp>
    </p:spTree>
    <p:extLst>
      <p:ext uri="{BB962C8B-B14F-4D97-AF65-F5344CB8AC3E}">
        <p14:creationId xmlns:p14="http://schemas.microsoft.com/office/powerpoint/2010/main" val="21506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01 / STORY</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Problem &amp; Solution Overview</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Delivery teams answer “is this ready?” from memory. RefineAI answers it from evidence.</a:t>
            </a:r>
          </a:p>
        </p:txBody>
      </p:sp>
      <p:sp>
        <p:nvSpPr>
          <p:cNvPr id="5" name="Shape 3"/>
          <p:cNvSpPr/>
          <p:nvPr/>
        </p:nvSpPr>
        <p:spPr>
          <a:xfrm>
            <a:off x="566928"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1554480"/>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PROBLEM STATEMENT</a:t>
            </a:r>
          </a:p>
        </p:txBody>
      </p:sp>
      <p:sp>
        <p:nvSpPr>
          <p:cNvPr id="8" name="Text 6"/>
          <p:cNvSpPr/>
          <p:nvPr/>
        </p:nvSpPr>
        <p:spPr>
          <a:xfrm>
            <a:off x="768096"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Delivery context is scattered across Jira epics, Confluence requirements, Teams refinement calls, Figma designs and code. Refinement, dependency mapping, estimation and sprint-readiness are therefore done manually, from memory, every sprint.</a:t>
            </a:r>
          </a:p>
          <a:p>
            <a:pPr marL="0" indent="0">
              <a:spcBef>
                <a:spcPts val="420"/>
              </a:spcBef>
              <a:buNone/>
            </a:pPr>
            <a:r>
              <a:rPr lang="en-US" sz="900" b="0" dirty="0">
                <a:solidFill>
                  <a:srgbClr val="172044"/>
                </a:solidFill>
              </a:rPr>
              <a:t>The result is missed cross-team blockers, optimistic estimates, sprint spillover and late releases. Existing tools present data; none of them return a defensible verdict.</a:t>
            </a:r>
          </a:p>
        </p:txBody>
      </p:sp>
      <p:sp>
        <p:nvSpPr>
          <p:cNvPr id="9" name="Text 7"/>
          <p:cNvSpPr/>
          <p:nvPr/>
        </p:nvSpPr>
        <p:spPr>
          <a:xfrm>
            <a:off x="5458968"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6245352"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6245352" y="1572768"/>
            <a:ext cx="73152" cy="1554480"/>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6446520"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TARGET AUDIENCE</a:t>
            </a:r>
          </a:p>
        </p:txBody>
      </p:sp>
      <p:sp>
        <p:nvSpPr>
          <p:cNvPr id="13" name="Text 11"/>
          <p:cNvSpPr/>
          <p:nvPr/>
        </p:nvSpPr>
        <p:spPr>
          <a:xfrm>
            <a:off x="6446520"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Product Owners and Product Managers · Scrum Masters · Engineering Managers · QA leads · Developers · Delivery and engineering leadership.</a:t>
            </a:r>
          </a:p>
          <a:p>
            <a:pPr marL="0" indent="0">
              <a:spcBef>
                <a:spcPts val="420"/>
              </a:spcBef>
              <a:buNone/>
            </a:pPr>
            <a:r>
              <a:rPr lang="en-US" sz="900" b="0" dirty="0">
                <a:solidFill>
                  <a:srgbClr val="172044"/>
                </a:solidFill>
              </a:rPr>
              <a:t>Built against real NIQ delivery data: 56 teams, 638 people in the imported roster, and live Jira boards — not a synthetic sample.</a:t>
            </a:r>
          </a:p>
        </p:txBody>
      </p:sp>
      <p:sp>
        <p:nvSpPr>
          <p:cNvPr id="14" name="Text 12"/>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5" name="Shape 13"/>
          <p:cNvSpPr/>
          <p:nvPr/>
        </p:nvSpPr>
        <p:spPr>
          <a:xfrm>
            <a:off x="566928"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566928" y="3273552"/>
            <a:ext cx="73152" cy="1554480"/>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768096"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YOUR SOLUTION</a:t>
            </a:r>
          </a:p>
        </p:txBody>
      </p:sp>
      <p:sp>
        <p:nvSpPr>
          <p:cNvPr id="18" name="Text 16"/>
          <p:cNvSpPr/>
          <p:nvPr/>
        </p:nvSpPr>
        <p:spPr>
          <a:xfrm>
            <a:off x="768096"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A conversational delivery copilot inside VS Code. One orchestrator and 16 specialist agents read an epic together with the requirement pages, designs, refinement conversations and repositories that surround it.</a:t>
            </a:r>
          </a:p>
          <a:p>
            <a:pPr marL="0" indent="0">
              <a:spcBef>
                <a:spcPts val="420"/>
              </a:spcBef>
              <a:buNone/>
            </a:pPr>
            <a:r>
              <a:rPr lang="en-US" sz="900" b="0" dirty="0">
                <a:solidFill>
                  <a:srgbClr val="172044"/>
                </a:solidFill>
              </a:rPr>
              <a:t>It grades the epic against a configurable Definition of Ready, proposes the stories and test cases that close the gaps, and writes to Jira only after an explicit, itemized human approval.</a:t>
            </a:r>
          </a:p>
        </p:txBody>
      </p:sp>
      <p:sp>
        <p:nvSpPr>
          <p:cNvPr id="19" name="Text 17"/>
          <p:cNvSpPr/>
          <p:nvPr/>
        </p:nvSpPr>
        <p:spPr>
          <a:xfrm>
            <a:off x="5458968" y="3401568"/>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6245352"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1" name="Shape 19"/>
          <p:cNvSpPr/>
          <p:nvPr/>
        </p:nvSpPr>
        <p:spPr>
          <a:xfrm>
            <a:off x="6245352" y="3273552"/>
            <a:ext cx="73152" cy="1554480"/>
          </a:xfrm>
          <a:prstGeom prst="rect">
            <a:avLst/>
          </a:prstGeom>
          <a:solidFill>
            <a:srgbClr val="38B27B"/>
          </a:solidFill>
          <a:ln w="12700">
            <a:solidFill>
              <a:srgbClr val="38B27B"/>
            </a:solidFill>
            <a:prstDash val="solid"/>
          </a:ln>
        </p:spPr>
        <p:txBody>
          <a:bodyPr/>
          <a:lstStyle/>
          <a:p>
            <a:endParaRPr lang="en-US"/>
          </a:p>
        </p:txBody>
      </p:sp>
      <p:sp>
        <p:nvSpPr>
          <p:cNvPr id="22" name="Text 20"/>
          <p:cNvSpPr/>
          <p:nvPr/>
        </p:nvSpPr>
        <p:spPr>
          <a:xfrm>
            <a:off x="6446520"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VALUE PROPOSITION</a:t>
            </a:r>
          </a:p>
        </p:txBody>
      </p:sp>
      <p:sp>
        <p:nvSpPr>
          <p:cNvPr id="23" name="Text 21"/>
          <p:cNvSpPr/>
          <p:nvPr/>
        </p:nvSpPr>
        <p:spPr>
          <a:xfrm>
            <a:off x="6446520"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The verdict is computed, not generated. The model handles language; a tested engine (367 passing tests) owns every score, threshold and permission — same epic, same answer, every run, with the reasoning shown.</a:t>
            </a:r>
          </a:p>
          <a:p>
            <a:pPr marL="0" indent="0">
              <a:spcBef>
                <a:spcPts val="420"/>
              </a:spcBef>
              <a:buNone/>
            </a:pPr>
            <a:r>
              <a:rPr lang="en-US" sz="900" b="0" dirty="0">
                <a:solidFill>
                  <a:srgbClr val="172044"/>
                </a:solidFill>
              </a:rPr>
              <a:t>It names the sources it could not read, refuses to average away a requirement conflict, and obeys no instruction hidden inside retrieved content. Zero Jira writes are possible without approval.</a:t>
            </a:r>
          </a:p>
        </p:txBody>
      </p:sp>
      <p:sp>
        <p:nvSpPr>
          <p:cNvPr id="24" name="Text 22"/>
          <p:cNvSpPr/>
          <p:nvPr/>
        </p:nvSpPr>
        <p:spPr>
          <a:xfrm>
            <a:off x="11137392" y="3401568"/>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5" name="Shape 23"/>
          <p:cNvSpPr/>
          <p:nvPr/>
        </p:nvSpPr>
        <p:spPr>
          <a:xfrm>
            <a:off x="566928" y="5120640"/>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6" name="Text 24"/>
          <p:cNvSpPr/>
          <p:nvPr/>
        </p:nvSpPr>
        <p:spPr>
          <a:xfrm>
            <a:off x="566928" y="5184648"/>
            <a:ext cx="1271016" cy="146304"/>
          </a:xfrm>
          <a:prstGeom prst="rect">
            <a:avLst/>
          </a:prstGeom>
          <a:noFill/>
          <a:ln/>
        </p:spPr>
        <p:txBody>
          <a:bodyPr wrap="square" lIns="0" tIns="0" rIns="0" bIns="0" rtlCol="0" anchor="ctr"/>
          <a:lstStyle/>
          <a:p>
            <a:pPr marL="0" indent="0" algn="ctr">
              <a:buNone/>
            </a:pPr>
            <a:r>
              <a:rPr lang="en-US" sz="850" b="0" dirty="0">
                <a:solidFill>
                  <a:srgbClr val="2E6AF6"/>
                </a:solidFill>
              </a:rPr>
              <a:t>BEFORE → AFTER</a:t>
            </a:r>
          </a:p>
        </p:txBody>
      </p:sp>
      <p:sp>
        <p:nvSpPr>
          <p:cNvPr id="27" name="Text 25"/>
          <p:cNvSpPr/>
          <p:nvPr/>
        </p:nvSpPr>
        <p:spPr>
          <a:xfrm>
            <a:off x="1933575" y="5175504"/>
            <a:ext cx="6492240" cy="219456"/>
          </a:xfrm>
          <a:prstGeom prst="rect">
            <a:avLst/>
          </a:prstGeom>
          <a:noFill/>
          <a:ln/>
        </p:spPr>
        <p:txBody>
          <a:bodyPr wrap="square" lIns="0" tIns="0" rIns="0" bIns="0" rtlCol="0" anchor="ctr"/>
          <a:lstStyle/>
          <a:p>
            <a:pPr marL="0" indent="0">
              <a:buNone/>
            </a:pPr>
            <a:r>
              <a:rPr lang="en-US" sz="950" b="0" dirty="0">
                <a:solidFill>
                  <a:srgbClr val="5E6784"/>
                </a:solidFill>
              </a:rPr>
              <a:t>Before: “I think this epic is ready.”   →   After: “NOT_READY — 65/100, 2 blocking gaps, confidence 86, and here is every source behind it.”</a:t>
            </a:r>
          </a:p>
        </p:txBody>
      </p:sp>
      <p:sp>
        <p:nvSpPr>
          <p:cNvPr id="28"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01 / STORY</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Why Today’s Tools Don’t Close the Gap</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Dashboards report status. Nobody reports whether the work is understood well enough to start.</a:t>
            </a:r>
          </a:p>
        </p:txBody>
      </p:sp>
      <p:sp>
        <p:nvSpPr>
          <p:cNvPr id="5" name="Shape 3"/>
          <p:cNvSpPr/>
          <p:nvPr/>
        </p:nvSpPr>
        <p:spPr>
          <a:xfrm>
            <a:off x="566928"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1554480"/>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FRAGMENTED CONTEXT</a:t>
            </a:r>
          </a:p>
        </p:txBody>
      </p:sp>
      <p:sp>
        <p:nvSpPr>
          <p:cNvPr id="8" name="Text 6"/>
          <p:cNvSpPr/>
          <p:nvPr/>
        </p:nvSpPr>
        <p:spPr>
          <a:xfrm>
            <a:off x="768096"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Jira holds the ticket, Confluence the requirement, Teams the decision, Figma the design, GitHub the truth. No tool reads all five together, so the contradictions between them stay invisible until build time.</a:t>
            </a:r>
          </a:p>
        </p:txBody>
      </p:sp>
      <p:sp>
        <p:nvSpPr>
          <p:cNvPr id="9" name="Text 7"/>
          <p:cNvSpPr/>
          <p:nvPr/>
        </p:nvSpPr>
        <p:spPr>
          <a:xfrm>
            <a:off x="5458968"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6245352"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6245352" y="1572768"/>
            <a:ext cx="73152" cy="1554480"/>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6446520"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UNREPEATABLE JUDGEMENT</a:t>
            </a:r>
          </a:p>
        </p:txBody>
      </p:sp>
      <p:sp>
        <p:nvSpPr>
          <p:cNvPr id="13" name="Text 11"/>
          <p:cNvSpPr/>
          <p:nvPr/>
        </p:nvSpPr>
        <p:spPr>
          <a:xfrm>
            <a:off x="6446520"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“Ready” means something different to each person, each team and each sprint. Readiness is asserted in a meeting, never graded against a written, versioned standard — so it cannot be tracked or argued with.</a:t>
            </a:r>
          </a:p>
        </p:txBody>
      </p:sp>
      <p:sp>
        <p:nvSpPr>
          <p:cNvPr id="14" name="Text 12"/>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5" name="Shape 13"/>
          <p:cNvSpPr/>
          <p:nvPr/>
        </p:nvSpPr>
        <p:spPr>
          <a:xfrm>
            <a:off x="566928"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566928" y="3273552"/>
            <a:ext cx="73152" cy="1554480"/>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768096"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RISK FOUND TOO LATE</a:t>
            </a:r>
          </a:p>
        </p:txBody>
      </p:sp>
      <p:sp>
        <p:nvSpPr>
          <p:cNvPr id="18" name="Text 16"/>
          <p:cNvSpPr/>
          <p:nvPr/>
        </p:nvSpPr>
        <p:spPr>
          <a:xfrm>
            <a:off x="768096"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Cross-team blockers and scope creep surface at the sprint review, not on planning day. Nobody reconstructs “what did we actually commit to?” by hand, so scope creep stays a feeling rather than a fact.</a:t>
            </a:r>
          </a:p>
        </p:txBody>
      </p:sp>
      <p:sp>
        <p:nvSpPr>
          <p:cNvPr id="19" name="Text 17"/>
          <p:cNvSpPr/>
          <p:nvPr/>
        </p:nvSpPr>
        <p:spPr>
          <a:xfrm>
            <a:off x="5458968" y="3401568"/>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6245352"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1" name="Shape 19"/>
          <p:cNvSpPr/>
          <p:nvPr/>
        </p:nvSpPr>
        <p:spPr>
          <a:xfrm>
            <a:off x="6245352" y="3273552"/>
            <a:ext cx="73152" cy="1554480"/>
          </a:xfrm>
          <a:prstGeom prst="rect">
            <a:avLst/>
          </a:prstGeom>
          <a:solidFill>
            <a:srgbClr val="38B27B"/>
          </a:solidFill>
          <a:ln w="12700">
            <a:solidFill>
              <a:srgbClr val="38B27B"/>
            </a:solidFill>
            <a:prstDash val="solid"/>
          </a:ln>
        </p:spPr>
        <p:txBody>
          <a:bodyPr/>
          <a:lstStyle/>
          <a:p>
            <a:endParaRPr lang="en-US"/>
          </a:p>
        </p:txBody>
      </p:sp>
      <p:sp>
        <p:nvSpPr>
          <p:cNvPr id="22" name="Text 20"/>
          <p:cNvSpPr/>
          <p:nvPr/>
        </p:nvSpPr>
        <p:spPr>
          <a:xfrm>
            <a:off x="6446520"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AUTOMATION NOBODY TRUSTS</a:t>
            </a:r>
          </a:p>
        </p:txBody>
      </p:sp>
      <p:sp>
        <p:nvSpPr>
          <p:cNvPr id="23" name="Text 21"/>
          <p:cNvSpPr/>
          <p:nvPr/>
        </p:nvSpPr>
        <p:spPr>
          <a:xfrm>
            <a:off x="6446520"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A generative assistant that invents a requirement, hides a source it could not read, or bulk-creates tickets is worse than no assistant. Trust — not generation — is the real barrier to adoption.</a:t>
            </a:r>
          </a:p>
        </p:txBody>
      </p:sp>
      <p:sp>
        <p:nvSpPr>
          <p:cNvPr id="24" name="Text 22"/>
          <p:cNvSpPr/>
          <p:nvPr/>
        </p:nvSpPr>
        <p:spPr>
          <a:xfrm>
            <a:off x="11137392" y="3401568"/>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5" name="Shape 23"/>
          <p:cNvSpPr/>
          <p:nvPr/>
        </p:nvSpPr>
        <p:spPr>
          <a:xfrm>
            <a:off x="566928" y="5120640"/>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6" name="Text 24"/>
          <p:cNvSpPr/>
          <p:nvPr/>
        </p:nvSpPr>
        <p:spPr>
          <a:xfrm>
            <a:off x="566928" y="5184648"/>
            <a:ext cx="1271016" cy="146304"/>
          </a:xfrm>
          <a:prstGeom prst="rect">
            <a:avLst/>
          </a:prstGeom>
          <a:noFill/>
          <a:ln/>
        </p:spPr>
        <p:txBody>
          <a:bodyPr wrap="square" lIns="0" tIns="0" rIns="0" bIns="0" rtlCol="0" anchor="ctr"/>
          <a:lstStyle/>
          <a:p>
            <a:pPr marL="0" indent="0" algn="ctr">
              <a:buNone/>
            </a:pPr>
            <a:r>
              <a:rPr lang="en-US" sz="850" b="0" dirty="0">
                <a:solidFill>
                  <a:srgbClr val="2E6AF6"/>
                </a:solidFill>
              </a:rPr>
              <a:t>THE GAP</a:t>
            </a:r>
          </a:p>
        </p:txBody>
      </p:sp>
      <p:sp>
        <p:nvSpPr>
          <p:cNvPr id="27" name="Text 25"/>
          <p:cNvSpPr/>
          <p:nvPr/>
        </p:nvSpPr>
        <p:spPr>
          <a:xfrm>
            <a:off x="1933575" y="5175504"/>
            <a:ext cx="6492240" cy="219456"/>
          </a:xfrm>
          <a:prstGeom prst="rect">
            <a:avLst/>
          </a:prstGeom>
          <a:noFill/>
          <a:ln/>
        </p:spPr>
        <p:txBody>
          <a:bodyPr wrap="square" lIns="0" tIns="0" rIns="0" bIns="0" rtlCol="0" anchor="ctr"/>
          <a:lstStyle/>
          <a:p>
            <a:pPr marL="0" indent="0">
              <a:buNone/>
            </a:pPr>
            <a:r>
              <a:rPr lang="en-US" sz="950" b="0" dirty="0">
                <a:solidFill>
                  <a:srgbClr val="5E6784"/>
                </a:solidFill>
              </a:rPr>
              <a:t>The data is already available. An evidence-backed, reproducible answer is not.</a:t>
            </a:r>
          </a:p>
        </p:txBody>
      </p:sp>
      <p:sp>
        <p:nvSpPr>
          <p:cNvPr id="28"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01 / STORY</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RefineAI by the Numbers</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Nothing on this slide is a projection. Every figure is countable in the repository today.</a:t>
            </a:r>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ALL CHECKABLE</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npm test → 367 passing   ·   npm run refineai:demo → the whole journey offline, no credentials and no network.</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
        <p:nvSpPr>
          <p:cNvPr id="400" name="d"/>
          <p:cNvSpPr/>
          <p:nvPr/>
        </p:nvSpPr>
        <p:spPr>
          <a:xfrm>
            <a:off x="566928" y="156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01" name="d"/>
          <p:cNvSpPr/>
          <p:nvPr/>
        </p:nvSpPr>
        <p:spPr>
          <a:xfrm>
            <a:off x="566928" y="1560000"/>
            <a:ext cx="73152" cy="170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402" name="d"/>
          <p:cNvSpPr/>
          <p:nvPr/>
        </p:nvSpPr>
        <p:spPr>
          <a:xfrm>
            <a:off x="756928" y="170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2E6AF6"/>
                </a:solidFill>
              </a:rPr>
              <a:t>367</a:t>
            </a:r>
          </a:p>
          <a:p>
            <a:pPr marL="0" indent="0" algn="l">
              <a:spcBef>
                <a:spcPts val="120"/>
              </a:spcBef>
              <a:buNone/>
            </a:pPr>
            <a:r>
              <a:rPr lang="en-US" sz="800" b="1" dirty="0">
                <a:solidFill>
                  <a:srgbClr val="08124F"/>
                </a:solidFill>
              </a:rPr>
              <a:t>ENGINE TESTS PASSING</a:t>
            </a:r>
          </a:p>
          <a:p>
            <a:pPr marL="0" indent="0" algn="l">
              <a:spcBef>
                <a:spcPts val="160"/>
              </a:spcBef>
              <a:buNone/>
            </a:pPr>
            <a:r>
              <a:rPr lang="en-US" sz="760" b="0" dirty="0">
                <a:solidFill>
                  <a:srgbClr val="5E6784"/>
                </a:solidFill>
              </a:rPr>
              <a:t>Every score, threshold and permission is covered. No network, no credentials, no build step.</a:t>
            </a:r>
          </a:p>
        </p:txBody>
      </p:sp>
      <p:sp>
        <p:nvSpPr>
          <p:cNvPr id="403" name="d"/>
          <p:cNvSpPr/>
          <p:nvPr/>
        </p:nvSpPr>
        <p:spPr>
          <a:xfrm>
            <a:off x="3358134" y="156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04" name="d"/>
          <p:cNvSpPr/>
          <p:nvPr/>
        </p:nvSpPr>
        <p:spPr>
          <a:xfrm>
            <a:off x="3358134" y="1560000"/>
            <a:ext cx="73152" cy="1700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405" name="d"/>
          <p:cNvSpPr/>
          <p:nvPr/>
        </p:nvSpPr>
        <p:spPr>
          <a:xfrm>
            <a:off x="3548134" y="170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35C7D8"/>
                </a:solidFill>
              </a:rPr>
              <a:t>22</a:t>
            </a:r>
          </a:p>
          <a:p>
            <a:pPr marL="0" indent="0" algn="l">
              <a:spcBef>
                <a:spcPts val="120"/>
              </a:spcBef>
              <a:buNone/>
            </a:pPr>
            <a:r>
              <a:rPr lang="en-US" sz="800" b="1" dirty="0">
                <a:solidFill>
                  <a:srgbClr val="08124F"/>
                </a:solidFill>
              </a:rPr>
              <a:t>NAMED WORKFLOW STAGES</a:t>
            </a:r>
          </a:p>
          <a:p>
            <a:pPr marL="0" indent="0" algn="l">
              <a:spcBef>
                <a:spcPts val="160"/>
              </a:spcBef>
              <a:buNone/>
            </a:pPr>
            <a:r>
              <a:rPr lang="en-US" sz="760" b="0" dirty="0">
                <a:solidFill>
                  <a:srgbClr val="5E6784"/>
                </a:solidFill>
              </a:rPr>
              <a:t>One resumable run. Each stage records DONE, SKIPPED with a reason, or FAILED.</a:t>
            </a:r>
          </a:p>
        </p:txBody>
      </p:sp>
      <p:sp>
        <p:nvSpPr>
          <p:cNvPr id="406" name="d"/>
          <p:cNvSpPr/>
          <p:nvPr/>
        </p:nvSpPr>
        <p:spPr>
          <a:xfrm>
            <a:off x="6149340" y="156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07" name="d"/>
          <p:cNvSpPr/>
          <p:nvPr/>
        </p:nvSpPr>
        <p:spPr>
          <a:xfrm>
            <a:off x="6149340" y="1560000"/>
            <a:ext cx="73152" cy="1700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408" name="d"/>
          <p:cNvSpPr/>
          <p:nvPr/>
        </p:nvSpPr>
        <p:spPr>
          <a:xfrm>
            <a:off x="6339340" y="170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FFC83D"/>
                </a:solidFill>
              </a:rPr>
              <a:t>17</a:t>
            </a:r>
          </a:p>
          <a:p>
            <a:pPr marL="0" indent="0" algn="l">
              <a:spcBef>
                <a:spcPts val="120"/>
              </a:spcBef>
              <a:buNone/>
            </a:pPr>
            <a:r>
              <a:rPr lang="en-US" sz="800" b="1" dirty="0">
                <a:solidFill>
                  <a:srgbClr val="08124F"/>
                </a:solidFill>
              </a:rPr>
              <a:t>AGENTS</a:t>
            </a:r>
          </a:p>
          <a:p>
            <a:pPr marL="0" indent="0" algn="l">
              <a:spcBef>
                <a:spcPts val="160"/>
              </a:spcBef>
              <a:buNone/>
            </a:pPr>
            <a:r>
              <a:rPr lang="en-US" sz="760" b="0" dirty="0">
                <a:solidFill>
                  <a:srgbClr val="5E6784"/>
                </a:solidFill>
              </a:rPr>
              <a:t>1 orchestrator + 16 specialists. The orchestrator holds no write tools at all.</a:t>
            </a:r>
          </a:p>
        </p:txBody>
      </p:sp>
      <p:sp>
        <p:nvSpPr>
          <p:cNvPr id="409" name="d"/>
          <p:cNvSpPr/>
          <p:nvPr/>
        </p:nvSpPr>
        <p:spPr>
          <a:xfrm>
            <a:off x="8940546" y="156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10" name="d"/>
          <p:cNvSpPr/>
          <p:nvPr/>
        </p:nvSpPr>
        <p:spPr>
          <a:xfrm>
            <a:off x="8940546" y="1560000"/>
            <a:ext cx="73152" cy="1700000"/>
          </a:xfrm>
          <a:prstGeom prst="rect">
            <a:avLst/>
          </a:prstGeom>
          <a:solidFill>
            <a:srgbClr val="38B27B"/>
          </a:solidFill>
          <a:ln>
            <a:noFill/>
          </a:ln>
        </p:spPr>
        <p:txBody>
          <a:bodyPr lIns="82296" tIns="36576" rIns="82296" bIns="36576" anchor="ctr" wrap="square">
            <a:normAutofit/>
          </a:bodyPr>
          <a:lstStyle/>
          <a:p>
            <a:pPr algn="l"/>
            <a:endParaRPr lang="en-US"/>
          </a:p>
        </p:txBody>
      </p:sp>
      <p:sp>
        <p:nvSpPr>
          <p:cNvPr id="411" name="d"/>
          <p:cNvSpPr/>
          <p:nvPr/>
        </p:nvSpPr>
        <p:spPr>
          <a:xfrm>
            <a:off x="9130546" y="170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38B27B"/>
                </a:solidFill>
              </a:rPr>
              <a:t>9</a:t>
            </a:r>
          </a:p>
          <a:p>
            <a:pPr marL="0" indent="0" algn="l">
              <a:spcBef>
                <a:spcPts val="120"/>
              </a:spcBef>
              <a:buNone/>
            </a:pPr>
            <a:r>
              <a:rPr lang="en-US" sz="800" b="1" dirty="0">
                <a:solidFill>
                  <a:srgbClr val="08124F"/>
                </a:solidFill>
              </a:rPr>
              <a:t>INTEGRATION PORTS</a:t>
            </a:r>
          </a:p>
          <a:p>
            <a:pPr marL="0" indent="0" algn="l">
              <a:spcBef>
                <a:spcPts val="160"/>
              </a:spcBef>
              <a:buNone/>
            </a:pPr>
            <a:r>
              <a:rPr lang="en-US" sz="760" b="0" dirty="0">
                <a:solidFill>
                  <a:srgbClr val="5E6784"/>
                </a:solidFill>
              </a:rPr>
              <a:t>Jira, Confluence, GitHub, Figma, Teams, calendar, roster, audit, clock — every one swappable.</a:t>
            </a:r>
          </a:p>
        </p:txBody>
      </p:sp>
      <p:sp>
        <p:nvSpPr>
          <p:cNvPr id="412" name="d"/>
          <p:cNvSpPr/>
          <p:nvPr/>
        </p:nvSpPr>
        <p:spPr>
          <a:xfrm>
            <a:off x="566928" y="340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13" name="d"/>
          <p:cNvSpPr/>
          <p:nvPr/>
        </p:nvSpPr>
        <p:spPr>
          <a:xfrm>
            <a:off x="566928" y="3400000"/>
            <a:ext cx="73152" cy="170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414" name="d"/>
          <p:cNvSpPr/>
          <p:nvPr/>
        </p:nvSpPr>
        <p:spPr>
          <a:xfrm>
            <a:off x="756928" y="354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2E6AF6"/>
                </a:solidFill>
              </a:rPr>
              <a:t>56</a:t>
            </a:r>
          </a:p>
          <a:p>
            <a:pPr marL="0" indent="0" algn="l">
              <a:spcBef>
                <a:spcPts val="120"/>
              </a:spcBef>
              <a:buNone/>
            </a:pPr>
            <a:r>
              <a:rPr lang="en-US" sz="800" b="1" dirty="0">
                <a:solidFill>
                  <a:srgbClr val="08124F"/>
                </a:solidFill>
              </a:rPr>
              <a:t>NIQ TEAMS IN THE CATALOG</a:t>
            </a:r>
          </a:p>
          <a:p>
            <a:pPr marL="0" indent="0" algn="l">
              <a:spcBef>
                <a:spcPts val="160"/>
              </a:spcBef>
              <a:buNone/>
            </a:pPr>
            <a:r>
              <a:rPr lang="en-US" sz="760" b="0" dirty="0">
                <a:solidFill>
                  <a:srgbClr val="5E6784"/>
                </a:solidFill>
              </a:rPr>
              <a:t>Alongside 638 people in the imported roster — real delivery data, not a synthetic sample.</a:t>
            </a:r>
          </a:p>
        </p:txBody>
      </p:sp>
      <p:sp>
        <p:nvSpPr>
          <p:cNvPr id="415" name="d"/>
          <p:cNvSpPr/>
          <p:nvPr/>
        </p:nvSpPr>
        <p:spPr>
          <a:xfrm>
            <a:off x="3358134" y="340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16" name="d"/>
          <p:cNvSpPr/>
          <p:nvPr/>
        </p:nvSpPr>
        <p:spPr>
          <a:xfrm>
            <a:off x="3358134" y="3400000"/>
            <a:ext cx="73152" cy="1700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417" name="d"/>
          <p:cNvSpPr/>
          <p:nvPr/>
        </p:nvSpPr>
        <p:spPr>
          <a:xfrm>
            <a:off x="3548134" y="354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35C7D8"/>
                </a:solidFill>
              </a:rPr>
              <a:t>19</a:t>
            </a:r>
          </a:p>
          <a:p>
            <a:pPr marL="0" indent="0" algn="l">
              <a:spcBef>
                <a:spcPts val="120"/>
              </a:spcBef>
              <a:buNone/>
            </a:pPr>
            <a:r>
              <a:rPr lang="en-US" sz="800" b="1" dirty="0">
                <a:solidFill>
                  <a:srgbClr val="08124F"/>
                </a:solidFill>
              </a:rPr>
              <a:t>DEFINITION-OF-READY ITEMS</a:t>
            </a:r>
          </a:p>
          <a:p>
            <a:pPr marL="0" indent="0" algn="l">
              <a:spcBef>
                <a:spcPts val="160"/>
              </a:spcBef>
              <a:buNone/>
            </a:pPr>
            <a:r>
              <a:rPr lang="en-US" sz="760" b="0" dirty="0">
                <a:solidFill>
                  <a:srgbClr val="5E6784"/>
                </a:solidFill>
              </a:rPr>
              <a:t>Policy is versioned JSON configuration, owned per team — never prompt text.</a:t>
            </a:r>
          </a:p>
        </p:txBody>
      </p:sp>
      <p:sp>
        <p:nvSpPr>
          <p:cNvPr id="418" name="d"/>
          <p:cNvSpPr/>
          <p:nvPr/>
        </p:nvSpPr>
        <p:spPr>
          <a:xfrm>
            <a:off x="6149340" y="3400000"/>
            <a:ext cx="2654046" cy="1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19" name="d"/>
          <p:cNvSpPr/>
          <p:nvPr/>
        </p:nvSpPr>
        <p:spPr>
          <a:xfrm>
            <a:off x="6149340" y="3400000"/>
            <a:ext cx="73152" cy="1700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420" name="d"/>
          <p:cNvSpPr/>
          <p:nvPr/>
        </p:nvSpPr>
        <p:spPr>
          <a:xfrm>
            <a:off x="6339340" y="354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FFC83D"/>
                </a:solidFill>
              </a:rPr>
              <a:t>8</a:t>
            </a:r>
          </a:p>
          <a:p>
            <a:pPr marL="0" indent="0" algn="l">
              <a:spcBef>
                <a:spcPts val="120"/>
              </a:spcBef>
              <a:buNone/>
            </a:pPr>
            <a:r>
              <a:rPr lang="en-US" sz="800" b="1" dirty="0">
                <a:solidFill>
                  <a:srgbClr val="08124F"/>
                </a:solidFill>
              </a:rPr>
              <a:t>MANDATORY SKILLS</a:t>
            </a:r>
          </a:p>
          <a:p>
            <a:pPr marL="0" indent="0" algn="l">
              <a:spcBef>
                <a:spcPts val="160"/>
              </a:spcBef>
              <a:buNone/>
            </a:pPr>
            <a:r>
              <a:rPr lang="en-US" sz="760" b="0" dirty="0">
                <a:solidFill>
                  <a:srgbClr val="5E6784"/>
                </a:solidFill>
              </a:rPr>
              <a:t>Procedures with explicit constraints, refusals and a validation checklist.</a:t>
            </a:r>
          </a:p>
        </p:txBody>
      </p:sp>
      <p:sp>
        <p:nvSpPr>
          <p:cNvPr id="421" name="d"/>
          <p:cNvSpPr/>
          <p:nvPr/>
        </p:nvSpPr>
        <p:spPr>
          <a:xfrm>
            <a:off x="8940546" y="3400000"/>
            <a:ext cx="2654046" cy="1700000"/>
          </a:xfrm>
          <a:prstGeom prst="roundRect">
            <a:avLst>
              <a:gd name="adj" fmla="val 5000"/>
            </a:avLst>
          </a:prstGeom>
          <a:solidFill>
            <a:srgbClr val="08124F"/>
          </a:solidFill>
          <a:ln w="9525">
            <a:solidFill>
              <a:srgbClr val="08124F"/>
            </a:solidFill>
          </a:ln>
        </p:spPr>
        <p:txBody>
          <a:bodyPr lIns="82296" tIns="36576" rIns="82296" bIns="36576" anchor="ctr" wrap="square">
            <a:normAutofit/>
          </a:bodyPr>
          <a:lstStyle/>
          <a:p>
            <a:pPr algn="l"/>
            <a:endParaRPr lang="en-US"/>
          </a:p>
        </p:txBody>
      </p:sp>
      <p:sp>
        <p:nvSpPr>
          <p:cNvPr id="422" name="d"/>
          <p:cNvSpPr/>
          <p:nvPr/>
        </p:nvSpPr>
        <p:spPr>
          <a:xfrm>
            <a:off x="8940546" y="3400000"/>
            <a:ext cx="73152" cy="1700000"/>
          </a:xfrm>
          <a:prstGeom prst="rect">
            <a:avLst/>
          </a:prstGeom>
          <a:solidFill>
            <a:srgbClr val="38B27B"/>
          </a:solidFill>
          <a:ln>
            <a:noFill/>
          </a:ln>
        </p:spPr>
        <p:txBody>
          <a:bodyPr lIns="82296" tIns="36576" rIns="82296" bIns="36576" anchor="ctr" wrap="square">
            <a:normAutofit/>
          </a:bodyPr>
          <a:lstStyle/>
          <a:p>
            <a:pPr algn="l"/>
            <a:endParaRPr lang="en-US"/>
          </a:p>
        </p:txBody>
      </p:sp>
      <p:sp>
        <p:nvSpPr>
          <p:cNvPr id="423" name="d"/>
          <p:cNvSpPr/>
          <p:nvPr/>
        </p:nvSpPr>
        <p:spPr>
          <a:xfrm>
            <a:off x="9130546" y="3540000"/>
            <a:ext cx="2334046" cy="1420000"/>
          </a:xfrm>
          <a:prstGeom prst="rect">
            <a:avLst/>
          </a:prstGeom>
          <a:noFill/>
          <a:ln>
            <a:noFill/>
          </a:ln>
        </p:spPr>
        <p:txBody>
          <a:bodyPr lIns="0" tIns="0" rIns="0" bIns="0" anchor="ctr" wrap="square">
            <a:normAutofit/>
          </a:bodyPr>
          <a:lstStyle/>
          <a:p>
            <a:pPr marL="0" indent="0" algn="l">
              <a:buNone/>
            </a:pPr>
            <a:r>
              <a:rPr lang="en-US" sz="3200" b="1" dirty="0">
                <a:solidFill>
                  <a:srgbClr val="FFC83D"/>
                </a:solidFill>
              </a:rPr>
              <a:t>0</a:t>
            </a:r>
          </a:p>
          <a:p>
            <a:pPr marL="0" indent="0" algn="l">
              <a:spcBef>
                <a:spcPts val="120"/>
              </a:spcBef>
              <a:buNone/>
            </a:pPr>
            <a:r>
              <a:rPr lang="en-US" sz="800" b="1" dirty="0">
                <a:solidFill>
                  <a:srgbClr val="FFFFFF"/>
                </a:solidFill>
              </a:rPr>
              <a:t>JIRA WRITES WITHOUT APPROVAL</a:t>
            </a:r>
          </a:p>
          <a:p>
            <a:pPr marL="0" indent="0" algn="l">
              <a:spcBef>
                <a:spcPts val="160"/>
              </a:spcBef>
              <a:buNone/>
            </a:pPr>
            <a:r>
              <a:rPr lang="en-US" sz="760" b="0" dirty="0">
                <a:solidFill>
                  <a:srgbClr val="A9BFFF"/>
                </a:solidFill>
              </a:rPr>
              <a:t>Only create_issue, link_to_epic and add_comment exist — no update, transition or delete path.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02 / SOLUTION</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Detailed Solution</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Deterministic where it must be reproducible. Generative only where judgement is genuinely needed.</a:t>
            </a:r>
          </a:p>
        </p:txBody>
      </p:sp>
      <p:sp>
        <p:nvSpPr>
          <p:cNvPr id="5" name="Shape 3"/>
          <p:cNvSpPr/>
          <p:nvPr/>
        </p:nvSpPr>
        <p:spPr>
          <a:xfrm>
            <a:off x="566928"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600200"/>
            <a:ext cx="73152" cy="3401568"/>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INNOVATION &amp; ORIGINALITY</a:t>
            </a:r>
          </a:p>
        </p:txBody>
      </p:sp>
      <p:sp>
        <p:nvSpPr>
          <p:cNvPr id="8" name="Text 6"/>
          <p:cNvSpPr/>
          <p:nvPr/>
        </p:nvSpPr>
        <p:spPr>
          <a:xfrm>
            <a:off x="768096" y="2039112"/>
            <a:ext cx="3319272" cy="2816352"/>
          </a:xfrm>
          <a:prstGeom prst="rect">
            <a:avLst/>
          </a:prstGeom>
          <a:noFill/>
          <a:ln/>
        </p:spPr>
        <p:txBody>
          <a:bodyPr wrap="square" lIns="381" tIns="381" rIns="381" bIns="381" rtlCol="0" anchor="t">
            <a:normAutofit/>
          </a:bodyPr>
          <a:lstStyle/>
          <a:p>
            <a:pPr marL="0" indent="0">
              <a:buNone/>
            </a:pPr>
            <a:r>
              <a:rPr lang="en-US" sz="880" b="1" dirty="0">
                <a:solidFill>
                  <a:srgbClr val="08124F"/>
                </a:solidFill>
              </a:rPr>
              <a:t>A split most AI delivery tools do not make</a:t>
            </a:r>
          </a:p>
          <a:p>
            <a:pPr marL="144000" indent="-144000">
              <a:spcBef>
                <a:spcPts val="420"/>
              </a:spcBef>
              <a:buFont typeface="Arial"/>
              <a:buChar char="•"/>
            </a:pPr>
            <a:r>
              <a:rPr lang="en-US" sz="880" b="0" dirty="0">
                <a:solidFill>
                  <a:srgbClr val="172044"/>
                </a:solidFill>
              </a:rPr>
              <a:t>The LLM reads, summarizes and drafts — language work.</a:t>
            </a:r>
          </a:p>
          <a:p>
            <a:pPr marL="144000" indent="-144000">
              <a:spcBef>
                <a:spcPts val="420"/>
              </a:spcBef>
              <a:buFont typeface="Arial"/>
              <a:buChar char="•"/>
            </a:pPr>
            <a:r>
              <a:rPr lang="en-US" sz="880" b="0" dirty="0">
                <a:solidFill>
                  <a:srgbClr val="172044"/>
                </a:solidFill>
              </a:rPr>
              <a:t>A tested, zero-dependency engine scores, grades and decides — 367 tests, no network.</a:t>
            </a:r>
          </a:p>
          <a:p>
            <a:pPr marL="144000" indent="-144000">
              <a:spcBef>
                <a:spcPts val="420"/>
              </a:spcBef>
              <a:buFont typeface="Arial"/>
              <a:buChar char="•"/>
            </a:pPr>
            <a:r>
              <a:rPr lang="en-US" sz="880" b="0" dirty="0">
                <a:solidFill>
                  <a:srgbClr val="172044"/>
                </a:solidFill>
              </a:rPr>
              <a:t>The model never owns the verdict, so the answer is reproducible and inspectable.</a:t>
            </a:r>
          </a:p>
          <a:p>
            <a:pPr marL="0" indent="0">
              <a:spcBef>
                <a:spcPts val="420"/>
              </a:spcBef>
              <a:buNone/>
            </a:pPr>
            <a:r>
              <a:rPr lang="en-US" sz="880" b="1" dirty="0">
                <a:solidFill>
                  <a:srgbClr val="08124F"/>
                </a:solidFill>
              </a:rPr>
              <a:t>Other firsts here</a:t>
            </a:r>
          </a:p>
          <a:p>
            <a:pPr marL="144000" indent="-144000">
              <a:spcBef>
                <a:spcPts val="420"/>
              </a:spcBef>
              <a:buFont typeface="Arial"/>
              <a:buChar char="•"/>
            </a:pPr>
            <a:r>
              <a:rPr lang="en-US" sz="880" b="0" dirty="0">
                <a:solidFill>
                  <a:srgbClr val="172044"/>
                </a:solidFill>
              </a:rPr>
              <a:t>A 22-stage workflow that pauses, persists and resumes without re-reading a single source.</a:t>
            </a:r>
          </a:p>
          <a:p>
            <a:pPr marL="144000" indent="-144000">
              <a:spcBef>
                <a:spcPts val="420"/>
              </a:spcBef>
              <a:buFont typeface="Arial"/>
              <a:buChar char="•"/>
            </a:pPr>
            <a:r>
              <a:rPr lang="en-US" sz="880" b="0" dirty="0">
                <a:solidFill>
                  <a:srgbClr val="172044"/>
                </a:solidFill>
              </a:rPr>
              <a:t>Retrieval failures and prompt-injection attempts are first-class outputs, never silent skips.</a:t>
            </a:r>
          </a:p>
          <a:p>
            <a:pPr marL="144000" indent="-144000">
              <a:spcBef>
                <a:spcPts val="420"/>
              </a:spcBef>
              <a:buFont typeface="Arial"/>
              <a:buChar char="•"/>
            </a:pPr>
            <a:r>
              <a:rPr lang="en-US" sz="880" b="0" dirty="0">
                <a:solidFill>
                  <a:srgbClr val="172044"/>
                </a:solidFill>
              </a:rPr>
              <a:t>Policy is configuration — Definition of Ready and Done are JSON, not prompt text.</a:t>
            </a:r>
          </a:p>
        </p:txBody>
      </p:sp>
      <p:sp>
        <p:nvSpPr>
          <p:cNvPr id="9" name="Text 7"/>
          <p:cNvSpPr/>
          <p:nvPr/>
        </p:nvSpPr>
        <p:spPr>
          <a:xfrm>
            <a:off x="3813048" y="1728216"/>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A</a:t>
            </a:r>
            <a:endParaRPr lang="en-US" sz="1200" dirty="0"/>
          </a:p>
        </p:txBody>
      </p:sp>
      <p:sp>
        <p:nvSpPr>
          <p:cNvPr id="10" name="Shape 8"/>
          <p:cNvSpPr/>
          <p:nvPr/>
        </p:nvSpPr>
        <p:spPr>
          <a:xfrm>
            <a:off x="4416552"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16552" y="1600200"/>
            <a:ext cx="73152" cy="3401568"/>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4617720"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SCALABILITY</a:t>
            </a:r>
          </a:p>
        </p:txBody>
      </p:sp>
      <p:sp>
        <p:nvSpPr>
          <p:cNvPr id="13" name="Text 11"/>
          <p:cNvSpPr/>
          <p:nvPr/>
        </p:nvSpPr>
        <p:spPr>
          <a:xfrm>
            <a:off x="4617720" y="2039112"/>
            <a:ext cx="3319272"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1 orchestrator + 16 specialist agents; a new capability is a new agent file, not a refactor.</a:t>
            </a:r>
          </a:p>
          <a:p>
            <a:pPr marL="144000" indent="-144000">
              <a:spcBef>
                <a:spcPts val="420"/>
              </a:spcBef>
              <a:buFont typeface="Arial"/>
              <a:buChar char="•"/>
            </a:pPr>
            <a:r>
              <a:rPr lang="en-US" sz="880" b="0" dirty="0">
                <a:solidFill>
                  <a:srgbClr val="172044"/>
                </a:solidFill>
              </a:rPr>
              <a:t>9 ports with swappable adapters (Jira, GitHub, Figma, calendar, roster) — the engine never talks to a vendor directly, so a different tracker is an adapter, not a rewrite.</a:t>
            </a:r>
          </a:p>
          <a:p>
            <a:pPr marL="144000" indent="-144000">
              <a:spcBef>
                <a:spcPts val="420"/>
              </a:spcBef>
              <a:buFont typeface="Arial"/>
              <a:buChar char="•"/>
            </a:pPr>
            <a:r>
              <a:rPr lang="en-US" sz="880" b="0" dirty="0">
                <a:solidFill>
                  <a:srgbClr val="172044"/>
                </a:solidFill>
              </a:rPr>
              <a:t>Each team brings its own Definition of Ready and Done, team catalog and scoring weights as JSON — no fork, no code change.</a:t>
            </a:r>
          </a:p>
          <a:p>
            <a:pPr marL="144000" indent="-144000">
              <a:spcBef>
                <a:spcPts val="420"/>
              </a:spcBef>
              <a:buFont typeface="Arial"/>
              <a:buChar char="•"/>
            </a:pPr>
            <a:r>
              <a:rPr lang="en-US" sz="880" b="0" dirty="0">
                <a:solidFill>
                  <a:srgbClr val="172044"/>
                </a:solidFill>
              </a:rPr>
              <a:t>Already exercised across 56 teams and 638 people; the portfolio brief runs across a Product Owner’s whole set of teams in one prompt.</a:t>
            </a:r>
          </a:p>
          <a:p>
            <a:pPr marL="144000" indent="-144000">
              <a:spcBef>
                <a:spcPts val="420"/>
              </a:spcBef>
              <a:buFont typeface="Arial"/>
              <a:buChar char="•"/>
            </a:pPr>
            <a:r>
              <a:rPr lang="en-US" sz="880" b="0" dirty="0">
                <a:solidFill>
                  <a:srgbClr val="172044"/>
                </a:solidFill>
              </a:rPr>
              <a:t>No new service, no database, no build step — it runs on the VS Code and Copilot entitlements engineers already have.</a:t>
            </a:r>
          </a:p>
        </p:txBody>
      </p:sp>
      <p:sp>
        <p:nvSpPr>
          <p:cNvPr id="14" name="Text 12"/>
          <p:cNvSpPr/>
          <p:nvPr/>
        </p:nvSpPr>
        <p:spPr>
          <a:xfrm>
            <a:off x="7662672" y="1728216"/>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B</a:t>
            </a:r>
            <a:endParaRPr lang="en-US" sz="1200" dirty="0"/>
          </a:p>
        </p:txBody>
      </p:sp>
      <p:sp>
        <p:nvSpPr>
          <p:cNvPr id="15" name="Shape 13"/>
          <p:cNvSpPr/>
          <p:nvPr/>
        </p:nvSpPr>
        <p:spPr>
          <a:xfrm>
            <a:off x="8266176" y="1600200"/>
            <a:ext cx="3328416" cy="3401568"/>
          </a:xfrm>
          <a:prstGeom prst="roundRect">
            <a:avLst>
              <a:gd name="adj" fmla="val 274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66176" y="1600200"/>
            <a:ext cx="73152" cy="340156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67344" y="1755648"/>
            <a:ext cx="2962656"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ROLE OF AI &amp; COST EFFECTIVENESS</a:t>
            </a:r>
          </a:p>
        </p:txBody>
      </p:sp>
      <p:sp>
        <p:nvSpPr>
          <p:cNvPr id="18" name="Text 16"/>
          <p:cNvSpPr/>
          <p:nvPr/>
        </p:nvSpPr>
        <p:spPr>
          <a:xfrm>
            <a:off x="8467344" y="2039112"/>
            <a:ext cx="2944368" cy="2816352"/>
          </a:xfrm>
          <a:prstGeom prst="rect">
            <a:avLst/>
          </a:prstGeom>
          <a:noFill/>
          <a:ln/>
        </p:spPr>
        <p:txBody>
          <a:bodyPr wrap="square" lIns="381" tIns="381" rIns="381" bIns="381" rtlCol="0" anchor="t">
            <a:normAutofit/>
          </a:bodyPr>
          <a:lstStyle/>
          <a:p>
            <a:pPr marL="0" indent="0">
              <a:buNone/>
            </a:pPr>
            <a:r>
              <a:rPr lang="en-US" sz="880" b="1" dirty="0">
                <a:solidFill>
                  <a:srgbClr val="08124F"/>
                </a:solidFill>
              </a:rPr>
              <a:t>Where AI adds value</a:t>
            </a:r>
          </a:p>
          <a:p>
            <a:pPr marL="0" indent="0">
              <a:spcBef>
                <a:spcPts val="420"/>
              </a:spcBef>
              <a:buNone/>
            </a:pPr>
            <a:r>
              <a:rPr lang="en-US" sz="880" b="0" dirty="0">
                <a:solidFill>
                  <a:srgbClr val="172044"/>
                </a:solidFill>
              </a:rPr>
              <a:t>Reading unstructured sources — requirement pages, refinement transcripts, designs, code — then extracting requirements, drafting stories, acceptance criteria and test cases, and answering in natural language.</a:t>
            </a:r>
          </a:p>
          <a:p>
            <a:pPr marL="0" indent="0">
              <a:spcBef>
                <a:spcPts val="420"/>
              </a:spcBef>
              <a:buNone/>
            </a:pPr>
            <a:r>
              <a:rPr lang="en-US" sz="880" b="1" dirty="0">
                <a:solidFill>
                  <a:srgbClr val="08124F"/>
                </a:solidFill>
              </a:rPr>
              <a:t>Where AI is excluded on purpose</a:t>
            </a:r>
          </a:p>
          <a:p>
            <a:pPr marL="0" indent="0">
              <a:spcBef>
                <a:spcPts val="420"/>
              </a:spcBef>
              <a:buNone/>
            </a:pPr>
            <a:r>
              <a:rPr lang="en-US" sz="880" b="0" dirty="0">
                <a:solidFill>
                  <a:srgbClr val="172044"/>
                </a:solidFill>
              </a:rPr>
              <a:t>Scoring, thresholds, coverage, permissions and every write decision. Those are code, under test, so a model update cannot quietly change a verdict.</a:t>
            </a:r>
          </a:p>
          <a:p>
            <a:pPr marL="0" indent="0">
              <a:spcBef>
                <a:spcPts val="420"/>
              </a:spcBef>
              <a:buNone/>
            </a:pPr>
            <a:r>
              <a:rPr lang="en-US" sz="880" b="1" dirty="0">
                <a:solidFill>
                  <a:srgbClr val="08124F"/>
                </a:solidFill>
              </a:rPr>
              <a:t>Cost</a:t>
            </a:r>
          </a:p>
          <a:p>
            <a:pPr marL="0" indent="0">
              <a:spcBef>
                <a:spcPts val="420"/>
              </a:spcBef>
              <a:buNone/>
            </a:pPr>
            <a:r>
              <a:rPr lang="en-US" sz="880" b="0" dirty="0">
                <a:solidFill>
                  <a:srgbClr val="172044"/>
                </a:solidFill>
              </a:rPr>
              <a:t>Zero new infrastructure and zero runtime dependencies beyond the repository. Retrieval happens once per run and resumed stages never re-read a source, which keeps token spend bounded and predictable.</a:t>
            </a:r>
          </a:p>
        </p:txBody>
      </p:sp>
      <p:sp>
        <p:nvSpPr>
          <p:cNvPr id="19" name="Text 17"/>
          <p:cNvSpPr/>
          <p:nvPr/>
        </p:nvSpPr>
        <p:spPr>
          <a:xfrm>
            <a:off x="11137392" y="1728216"/>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C</a:t>
            </a:r>
            <a:endParaRPr lang="en-US" sz="1200" dirty="0"/>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SHOW, DON’T TELL</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npm test → 367 passing   ·   npm run refineai:demo → the entire journey offline, no credentials, no network.</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02 / SOLUTION</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Architecture: Four Layers, One Rule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Anything reproducible is code. Anything needing judgement is a prompt. Any procedure with refusals is a skill.</a:t>
            </a:r>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ONE WRITE DOOR</a:t>
            </a:r>
          </a:p>
        </p:txBody>
      </p:sp>
      <p:sp>
        <p:nvSpPr>
          <p:cNvPr id="22" name="Text 20"/>
          <p:cNvSpPr/>
          <p:nvPr/>
        </p:nvSpPr>
        <p:spPr>
          <a:xfrm>
            <a:off x="2070735" y="5260000"/>
            <a:ext cx="7223760" cy="430000"/>
          </a:xfrm>
          <a:prstGeom prst="rect">
            <a:avLst/>
          </a:prstGeom>
          <a:noFill/>
          <a:ln/>
        </p:spPr>
        <p:txBody>
          <a:bodyPr wrap="square" lIns="0" tIns="0" rIns="0" bIns="0" rtlCol="0" anchor="ctr"/>
          <a:lstStyle/>
          <a:p>
            <a:pPr marL="0" indent="0">
              <a:buNone/>
            </a:pPr>
            <a:r>
              <a:rPr lang="en-US" sz="950" b="0" dirty="0">
                <a:solidFill>
                  <a:srgbClr val="5E6784"/>
                </a:solidFill>
              </a:rPr>
              <a:t>Sixteen agents can analyse. Exactly one — the Change Approval Gate — can create a Jira issue.   ·   Mermaid source: docs/refineAI/presentation/diagrams.md</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
        <p:nvSpPr>
          <p:cNvPr id="425" name="d"/>
          <p:cNvSpPr/>
          <p:nvPr/>
        </p:nvSpPr>
        <p:spPr>
          <a:xfrm>
            <a:off x="566928" y="1510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PEOPLE</a:t>
            </a:r>
          </a:p>
          <a:p>
            <a:pPr marL="0" indent="0" algn="ctr">
              <a:spcBef>
                <a:spcPts val="60"/>
              </a:spcBef>
              <a:buNone/>
            </a:pPr>
            <a:r>
              <a:rPr lang="en-US" sz="700" b="0" dirty="0">
                <a:solidFill>
                  <a:srgbClr val="A9BFFF"/>
                </a:solidFill>
              </a:rPr>
              <a:t>VS Code · Copilot Chat</a:t>
            </a:r>
          </a:p>
        </p:txBody>
      </p:sp>
      <p:sp>
        <p:nvSpPr>
          <p:cNvPr id="426" name="d"/>
          <p:cNvSpPr/>
          <p:nvPr/>
        </p:nvSpPr>
        <p:spPr>
          <a:xfrm>
            <a:off x="566928" y="1510000"/>
            <a:ext cx="73152" cy="512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427" name="d"/>
          <p:cNvSpPr/>
          <p:nvPr/>
        </p:nvSpPr>
        <p:spPr>
          <a:xfrm>
            <a:off x="2606040" y="1510000"/>
            <a:ext cx="1322276"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Product Owner</a:t>
            </a:r>
          </a:p>
        </p:txBody>
      </p:sp>
      <p:sp>
        <p:nvSpPr>
          <p:cNvPr id="428" name="d"/>
          <p:cNvSpPr/>
          <p:nvPr/>
        </p:nvSpPr>
        <p:spPr>
          <a:xfrm>
            <a:off x="3996896" y="1510000"/>
            <a:ext cx="122056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Scrum Master</a:t>
            </a:r>
          </a:p>
        </p:txBody>
      </p:sp>
      <p:sp>
        <p:nvSpPr>
          <p:cNvPr id="429" name="d"/>
          <p:cNvSpPr/>
          <p:nvPr/>
        </p:nvSpPr>
        <p:spPr>
          <a:xfrm>
            <a:off x="5286039" y="1510000"/>
            <a:ext cx="1932558"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Engineering Manager</a:t>
            </a:r>
          </a:p>
        </p:txBody>
      </p:sp>
      <p:sp>
        <p:nvSpPr>
          <p:cNvPr id="430" name="d"/>
          <p:cNvSpPr/>
          <p:nvPr/>
        </p:nvSpPr>
        <p:spPr>
          <a:xfrm>
            <a:off x="7287176" y="1510000"/>
            <a:ext cx="1118849"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QA Lead</a:t>
            </a:r>
          </a:p>
        </p:txBody>
      </p:sp>
      <p:sp>
        <p:nvSpPr>
          <p:cNvPr id="431" name="d"/>
          <p:cNvSpPr/>
          <p:nvPr/>
        </p:nvSpPr>
        <p:spPr>
          <a:xfrm>
            <a:off x="8474605" y="1510000"/>
            <a:ext cx="1118849"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Developer</a:t>
            </a:r>
          </a:p>
        </p:txBody>
      </p:sp>
      <p:sp>
        <p:nvSpPr>
          <p:cNvPr id="432" name="d"/>
          <p:cNvSpPr/>
          <p:nvPr/>
        </p:nvSpPr>
        <p:spPr>
          <a:xfrm>
            <a:off x="9662034" y="1510000"/>
            <a:ext cx="1932558"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Delivery Leadership</a:t>
            </a:r>
          </a:p>
        </p:txBody>
      </p:sp>
      <p:sp>
        <p:nvSpPr>
          <p:cNvPr id="424" name="d"/>
          <p:cNvSpPr/>
          <p:nvPr/>
        </p:nvSpPr>
        <p:spPr>
          <a:xfrm>
            <a:off x="1472184" y="2031144"/>
            <a:ext cx="109728" cy="93726"/>
          </a:xfrm>
          <a:prstGeom prst="downArrow">
            <a:avLst/>
          </a:prstGeom>
          <a:solidFill>
            <a:srgbClr val="C3CCE3"/>
          </a:solidFill>
          <a:ln>
            <a:noFill/>
          </a:ln>
        </p:spPr>
        <p:txBody>
          <a:bodyPr lIns="82296" tIns="36576" rIns="82296" bIns="36576" anchor="ctr" wrap="square">
            <a:normAutofit/>
          </a:bodyPr>
          <a:lstStyle/>
          <a:p>
            <a:pPr algn="l"/>
            <a:endParaRPr lang="en-US"/>
          </a:p>
        </p:txBody>
      </p:sp>
      <p:sp>
        <p:nvSpPr>
          <p:cNvPr id="434" name="d"/>
          <p:cNvSpPr/>
          <p:nvPr/>
        </p:nvSpPr>
        <p:spPr>
          <a:xfrm>
            <a:off x="566928" y="2134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REASONING</a:t>
            </a:r>
          </a:p>
          <a:p>
            <a:pPr marL="0" indent="0" algn="ctr">
              <a:spcBef>
                <a:spcPts val="60"/>
              </a:spcBef>
              <a:buNone/>
            </a:pPr>
            <a:r>
              <a:rPr lang="en-US" sz="700" b="0" dirty="0">
                <a:solidFill>
                  <a:srgbClr val="A9BFFF"/>
                </a:solidFill>
              </a:rPr>
              <a:t>layer 1  ·  17 agents</a:t>
            </a:r>
          </a:p>
        </p:txBody>
      </p:sp>
      <p:sp>
        <p:nvSpPr>
          <p:cNvPr id="435" name="d"/>
          <p:cNvSpPr/>
          <p:nvPr/>
        </p:nvSpPr>
        <p:spPr>
          <a:xfrm>
            <a:off x="566928" y="2134000"/>
            <a:ext cx="73152" cy="512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436" name="d"/>
          <p:cNvSpPr/>
          <p:nvPr/>
        </p:nvSpPr>
        <p:spPr>
          <a:xfrm>
            <a:off x="2606040" y="2134000"/>
            <a:ext cx="2309212"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1" dirty="0">
                <a:solidFill>
                  <a:srgbClr val="08124F"/>
                </a:solidFill>
              </a:rPr>
              <a:t>Orchestrator — holds no write tools</a:t>
            </a:r>
          </a:p>
        </p:txBody>
      </p:sp>
      <p:sp>
        <p:nvSpPr>
          <p:cNvPr id="437" name="d"/>
          <p:cNvSpPr/>
          <p:nvPr/>
        </p:nvSpPr>
        <p:spPr>
          <a:xfrm>
            <a:off x="4983832" y="2134000"/>
            <a:ext cx="923685"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Epic Readiness</a:t>
            </a:r>
          </a:p>
        </p:txBody>
      </p:sp>
      <p:sp>
        <p:nvSpPr>
          <p:cNvPr id="438" name="d"/>
          <p:cNvSpPr/>
          <p:nvPr/>
        </p:nvSpPr>
        <p:spPr>
          <a:xfrm>
            <a:off x="5976096" y="2134000"/>
            <a:ext cx="989662"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Story Architect</a:t>
            </a:r>
          </a:p>
        </p:txBody>
      </p:sp>
      <p:sp>
        <p:nvSpPr>
          <p:cNvPr id="439" name="d"/>
          <p:cNvSpPr/>
          <p:nvPr/>
        </p:nvSpPr>
        <p:spPr>
          <a:xfrm>
            <a:off x="7034339" y="2134000"/>
            <a:ext cx="1319550"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Manual Test Designer</a:t>
            </a:r>
          </a:p>
        </p:txBody>
      </p:sp>
      <p:sp>
        <p:nvSpPr>
          <p:cNvPr id="440" name="d"/>
          <p:cNvSpPr/>
          <p:nvPr/>
        </p:nvSpPr>
        <p:spPr>
          <a:xfrm>
            <a:off x="8422468" y="2134000"/>
            <a:ext cx="1121617"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Dependency &amp; Risk</a:t>
            </a:r>
          </a:p>
        </p:txBody>
      </p:sp>
      <p:sp>
        <p:nvSpPr>
          <p:cNvPr id="441" name="d"/>
          <p:cNvSpPr/>
          <p:nvPr/>
        </p:nvSpPr>
        <p:spPr>
          <a:xfrm>
            <a:off x="9612665" y="2134000"/>
            <a:ext cx="1187595"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Capacity &amp; Closure</a:t>
            </a:r>
          </a:p>
        </p:txBody>
      </p:sp>
      <p:sp>
        <p:nvSpPr>
          <p:cNvPr id="442" name="d"/>
          <p:cNvSpPr/>
          <p:nvPr/>
        </p:nvSpPr>
        <p:spPr>
          <a:xfrm>
            <a:off x="10868840" y="2134000"/>
            <a:ext cx="725752" cy="512000"/>
          </a:xfrm>
          <a:prstGeom prst="roundRect">
            <a:avLst>
              <a:gd name="adj" fmla="val 12000"/>
            </a:avLst>
          </a:prstGeom>
          <a:solidFill>
            <a:srgbClr val="E6F8FA"/>
          </a:solidFill>
          <a:ln w="9525">
            <a:solidFill>
              <a:srgbClr val="35C7D8"/>
            </a:solidFill>
          </a:ln>
        </p:spPr>
        <p:txBody>
          <a:bodyPr lIns="45720" tIns="18288" rIns="45720" bIns="18288" anchor="ctr" wrap="square">
            <a:normAutofit/>
          </a:bodyPr>
          <a:lstStyle/>
          <a:p>
            <a:pPr marL="0" indent="0" algn="ctr">
              <a:buNone/>
            </a:pPr>
            <a:r>
              <a:rPr lang="en-US" sz="700" b="0" dirty="0">
                <a:solidFill>
                  <a:srgbClr val="08124F"/>
                </a:solidFill>
              </a:rPr>
              <a:t>+ 11 more</a:t>
            </a:r>
          </a:p>
        </p:txBody>
      </p:sp>
      <p:sp>
        <p:nvSpPr>
          <p:cNvPr id="433" name="d"/>
          <p:cNvSpPr/>
          <p:nvPr/>
        </p:nvSpPr>
        <p:spPr>
          <a:xfrm>
            <a:off x="1472184" y="2655144"/>
            <a:ext cx="109728" cy="93726"/>
          </a:xfrm>
          <a:prstGeom prst="downArrow">
            <a:avLst/>
          </a:prstGeom>
          <a:solidFill>
            <a:srgbClr val="C3CCE3"/>
          </a:solidFill>
          <a:ln>
            <a:noFill/>
          </a:ln>
        </p:spPr>
        <p:txBody>
          <a:bodyPr lIns="82296" tIns="36576" rIns="82296" bIns="36576" anchor="ctr" wrap="square">
            <a:normAutofit/>
          </a:bodyPr>
          <a:lstStyle/>
          <a:p>
            <a:pPr algn="l"/>
            <a:endParaRPr lang="en-US"/>
          </a:p>
        </p:txBody>
      </p:sp>
      <p:sp>
        <p:nvSpPr>
          <p:cNvPr id="444" name="d"/>
          <p:cNvSpPr/>
          <p:nvPr/>
        </p:nvSpPr>
        <p:spPr>
          <a:xfrm>
            <a:off x="566928" y="2758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SKILLS</a:t>
            </a:r>
          </a:p>
          <a:p>
            <a:pPr marL="0" indent="0" algn="ctr">
              <a:spcBef>
                <a:spcPts val="60"/>
              </a:spcBef>
              <a:buNone/>
            </a:pPr>
            <a:r>
              <a:rPr lang="en-US" sz="700" b="0" dirty="0">
                <a:solidFill>
                  <a:srgbClr val="A9BFFF"/>
                </a:solidFill>
              </a:rPr>
              <a:t>layer 2  ·  8 procedures</a:t>
            </a:r>
          </a:p>
        </p:txBody>
      </p:sp>
      <p:sp>
        <p:nvSpPr>
          <p:cNvPr id="445" name="d"/>
          <p:cNvSpPr/>
          <p:nvPr/>
        </p:nvSpPr>
        <p:spPr>
          <a:xfrm>
            <a:off x="566928" y="2758000"/>
            <a:ext cx="73152" cy="512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446" name="d"/>
          <p:cNvSpPr/>
          <p:nvPr/>
        </p:nvSpPr>
        <p:spPr>
          <a:xfrm>
            <a:off x="2606040" y="2758000"/>
            <a:ext cx="1400132"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Evidence-grounded analysis</a:t>
            </a:r>
          </a:p>
        </p:txBody>
      </p:sp>
      <p:sp>
        <p:nvSpPr>
          <p:cNvPr id="447" name="d"/>
          <p:cNvSpPr/>
          <p:nvPr/>
        </p:nvSpPr>
        <p:spPr>
          <a:xfrm>
            <a:off x="4074752" y="2758000"/>
            <a:ext cx="1077024"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Change-approval gate</a:t>
            </a:r>
          </a:p>
        </p:txBody>
      </p:sp>
      <p:sp>
        <p:nvSpPr>
          <p:cNvPr id="448" name="d"/>
          <p:cNvSpPr/>
          <p:nvPr/>
        </p:nvSpPr>
        <p:spPr>
          <a:xfrm>
            <a:off x="5220356" y="2758000"/>
            <a:ext cx="1077024"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Capacity calculation</a:t>
            </a:r>
          </a:p>
        </p:txBody>
      </p:sp>
      <p:sp>
        <p:nvSpPr>
          <p:cNvPr id="449" name="d"/>
          <p:cNvSpPr/>
          <p:nvPr/>
        </p:nvSpPr>
        <p:spPr>
          <a:xfrm>
            <a:off x="6365960" y="2758000"/>
            <a:ext cx="969322"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Definition of Done</a:t>
            </a:r>
          </a:p>
        </p:txBody>
      </p:sp>
      <p:sp>
        <p:nvSpPr>
          <p:cNvPr id="450" name="d"/>
          <p:cNvSpPr/>
          <p:nvPr/>
        </p:nvSpPr>
        <p:spPr>
          <a:xfrm>
            <a:off x="7403862" y="2758000"/>
            <a:ext cx="969322"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Roster &amp; ownership</a:t>
            </a:r>
          </a:p>
        </p:txBody>
      </p:sp>
      <p:sp>
        <p:nvSpPr>
          <p:cNvPr id="451" name="d"/>
          <p:cNvSpPr/>
          <p:nvPr/>
        </p:nvSpPr>
        <p:spPr>
          <a:xfrm>
            <a:off x="8441764" y="2758000"/>
            <a:ext cx="969322"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Manual test design</a:t>
            </a:r>
          </a:p>
        </p:txBody>
      </p:sp>
      <p:sp>
        <p:nvSpPr>
          <p:cNvPr id="452" name="d"/>
          <p:cNvSpPr/>
          <p:nvPr/>
        </p:nvSpPr>
        <p:spPr>
          <a:xfrm>
            <a:off x="9479666" y="2758000"/>
            <a:ext cx="1184727"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Workflow orchestration</a:t>
            </a:r>
          </a:p>
        </p:txBody>
      </p:sp>
      <p:sp>
        <p:nvSpPr>
          <p:cNvPr id="453" name="d"/>
          <p:cNvSpPr/>
          <p:nvPr/>
        </p:nvSpPr>
        <p:spPr>
          <a:xfrm>
            <a:off x="10732973" y="2758000"/>
            <a:ext cx="861619" cy="512000"/>
          </a:xfrm>
          <a:prstGeom prst="roundRect">
            <a:avLst>
              <a:gd name="adj" fmla="val 12000"/>
            </a:avLst>
          </a:prstGeom>
          <a:solidFill>
            <a:srgbClr val="FFF7E4"/>
          </a:solidFill>
          <a:ln w="9525">
            <a:solidFill>
              <a:srgbClr val="FFC83D"/>
            </a:solidFill>
          </a:ln>
        </p:spPr>
        <p:txBody>
          <a:bodyPr lIns="45720" tIns="18288" rIns="45720" bIns="18288" anchor="ctr" wrap="square">
            <a:normAutofit/>
          </a:bodyPr>
          <a:lstStyle/>
          <a:p>
            <a:pPr marL="0" indent="0" algn="ctr">
              <a:buNone/>
            </a:pPr>
            <a:r>
              <a:rPr lang="en-US" sz="700" b="0" dirty="0">
                <a:solidFill>
                  <a:srgbClr val="08124F"/>
                </a:solidFill>
              </a:rPr>
              <a:t>User elicitation</a:t>
            </a:r>
          </a:p>
        </p:txBody>
      </p:sp>
      <p:sp>
        <p:nvSpPr>
          <p:cNvPr id="443" name="d"/>
          <p:cNvSpPr/>
          <p:nvPr/>
        </p:nvSpPr>
        <p:spPr>
          <a:xfrm>
            <a:off x="1472184" y="3279144"/>
            <a:ext cx="109728" cy="93726"/>
          </a:xfrm>
          <a:prstGeom prst="downArrow">
            <a:avLst/>
          </a:prstGeom>
          <a:solidFill>
            <a:srgbClr val="C3CCE3"/>
          </a:solidFill>
          <a:ln>
            <a:noFill/>
          </a:ln>
        </p:spPr>
        <p:txBody>
          <a:bodyPr lIns="82296" tIns="36576" rIns="82296" bIns="36576" anchor="ctr" wrap="square">
            <a:normAutofit/>
          </a:bodyPr>
          <a:lstStyle/>
          <a:p>
            <a:pPr algn="l"/>
            <a:endParaRPr lang="en-US"/>
          </a:p>
        </p:txBody>
      </p:sp>
      <p:sp>
        <p:nvSpPr>
          <p:cNvPr id="455" name="d"/>
          <p:cNvSpPr/>
          <p:nvPr/>
        </p:nvSpPr>
        <p:spPr>
          <a:xfrm>
            <a:off x="566928" y="3382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ENGINE</a:t>
            </a:r>
          </a:p>
          <a:p>
            <a:pPr marL="0" indent="0" algn="ctr">
              <a:spcBef>
                <a:spcPts val="60"/>
              </a:spcBef>
              <a:buNone/>
            </a:pPr>
            <a:r>
              <a:rPr lang="en-US" sz="700" b="0" dirty="0">
                <a:solidFill>
                  <a:srgbClr val="A9BFFF"/>
                </a:solidFill>
              </a:rPr>
              <a:t>layer 3  ·  367 tests</a:t>
            </a:r>
          </a:p>
        </p:txBody>
      </p:sp>
      <p:sp>
        <p:nvSpPr>
          <p:cNvPr id="456" name="d"/>
          <p:cNvSpPr/>
          <p:nvPr/>
        </p:nvSpPr>
        <p:spPr>
          <a:xfrm>
            <a:off x="566928" y="3382000"/>
            <a:ext cx="73152" cy="512000"/>
          </a:xfrm>
          <a:prstGeom prst="rect">
            <a:avLst/>
          </a:prstGeom>
          <a:solidFill>
            <a:srgbClr val="38B27B"/>
          </a:solidFill>
          <a:ln>
            <a:noFill/>
          </a:ln>
        </p:spPr>
        <p:txBody>
          <a:bodyPr lIns="82296" tIns="36576" rIns="82296" bIns="36576" anchor="ctr" wrap="square">
            <a:normAutofit/>
          </a:bodyPr>
          <a:lstStyle/>
          <a:p>
            <a:pPr algn="l"/>
            <a:endParaRPr lang="en-US"/>
          </a:p>
        </p:txBody>
      </p:sp>
      <p:sp>
        <p:nvSpPr>
          <p:cNvPr id="457" name="d"/>
          <p:cNvSpPr/>
          <p:nvPr/>
        </p:nvSpPr>
        <p:spPr>
          <a:xfrm>
            <a:off x="2606040" y="3382000"/>
            <a:ext cx="1383495"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1" dirty="0">
                <a:solidFill>
                  <a:srgbClr val="08124F"/>
                </a:solidFill>
              </a:rPr>
              <a:t>22-stage coordinator</a:t>
            </a:r>
          </a:p>
        </p:txBody>
      </p:sp>
      <p:sp>
        <p:nvSpPr>
          <p:cNvPr id="458" name="d"/>
          <p:cNvSpPr/>
          <p:nvPr/>
        </p:nvSpPr>
        <p:spPr>
          <a:xfrm>
            <a:off x="4058115" y="3382000"/>
            <a:ext cx="1314320"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Readiness &amp; scoring</a:t>
            </a:r>
          </a:p>
        </p:txBody>
      </p:sp>
      <p:sp>
        <p:nvSpPr>
          <p:cNvPr id="459" name="d"/>
          <p:cNvSpPr/>
          <p:nvPr/>
        </p:nvSpPr>
        <p:spPr>
          <a:xfrm>
            <a:off x="5441015" y="3382000"/>
            <a:ext cx="1037621"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Coverage matrix</a:t>
            </a:r>
          </a:p>
        </p:txBody>
      </p:sp>
      <p:sp>
        <p:nvSpPr>
          <p:cNvPr id="460" name="d"/>
          <p:cNvSpPr/>
          <p:nvPr/>
        </p:nvSpPr>
        <p:spPr>
          <a:xfrm>
            <a:off x="6547216" y="3382000"/>
            <a:ext cx="1106796"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Dependency graph</a:t>
            </a:r>
          </a:p>
        </p:txBody>
      </p:sp>
      <p:sp>
        <p:nvSpPr>
          <p:cNvPr id="461" name="d"/>
          <p:cNvSpPr/>
          <p:nvPr/>
        </p:nvSpPr>
        <p:spPr>
          <a:xfrm>
            <a:off x="7722591" y="3382000"/>
            <a:ext cx="760922"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Estimation</a:t>
            </a:r>
          </a:p>
        </p:txBody>
      </p:sp>
      <p:sp>
        <p:nvSpPr>
          <p:cNvPr id="462" name="d"/>
          <p:cNvSpPr/>
          <p:nvPr/>
        </p:nvSpPr>
        <p:spPr>
          <a:xfrm>
            <a:off x="8552093" y="3382000"/>
            <a:ext cx="760922"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Proposals</a:t>
            </a:r>
          </a:p>
        </p:txBody>
      </p:sp>
      <p:sp>
        <p:nvSpPr>
          <p:cNvPr id="463" name="d"/>
          <p:cNvSpPr/>
          <p:nvPr/>
        </p:nvSpPr>
        <p:spPr>
          <a:xfrm>
            <a:off x="9381595" y="3382000"/>
            <a:ext cx="1383495"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1" dirty="0">
                <a:solidFill>
                  <a:srgbClr val="08124F"/>
                </a:solidFill>
              </a:rPr>
              <a:t>Approval &amp; execution</a:t>
            </a:r>
          </a:p>
        </p:txBody>
      </p:sp>
      <p:sp>
        <p:nvSpPr>
          <p:cNvPr id="464" name="d"/>
          <p:cNvSpPr/>
          <p:nvPr/>
        </p:nvSpPr>
        <p:spPr>
          <a:xfrm>
            <a:off x="10833670" y="3382000"/>
            <a:ext cx="760922" cy="512000"/>
          </a:xfrm>
          <a:prstGeom prst="roundRect">
            <a:avLst>
              <a:gd name="adj" fmla="val 12000"/>
            </a:avLst>
          </a:prstGeom>
          <a:solidFill>
            <a:srgbClr val="E8F7F1"/>
          </a:solidFill>
          <a:ln w="9525">
            <a:solidFill>
              <a:srgbClr val="38B27B"/>
            </a:solidFill>
          </a:ln>
        </p:spPr>
        <p:txBody>
          <a:bodyPr lIns="45720" tIns="18288" rIns="45720" bIns="18288" anchor="ctr" wrap="square">
            <a:normAutofit/>
          </a:bodyPr>
          <a:lstStyle/>
          <a:p>
            <a:pPr marL="0" indent="0" algn="ctr">
              <a:buNone/>
            </a:pPr>
            <a:r>
              <a:rPr lang="en-US" sz="700" b="0" dirty="0">
                <a:solidFill>
                  <a:srgbClr val="08124F"/>
                </a:solidFill>
              </a:rPr>
              <a:t>Audit trail</a:t>
            </a:r>
          </a:p>
        </p:txBody>
      </p:sp>
      <p:sp>
        <p:nvSpPr>
          <p:cNvPr id="454" name="d"/>
          <p:cNvSpPr/>
          <p:nvPr/>
        </p:nvSpPr>
        <p:spPr>
          <a:xfrm>
            <a:off x="1472184" y="3903144"/>
            <a:ext cx="109728" cy="93726"/>
          </a:xfrm>
          <a:prstGeom prst="downArrow">
            <a:avLst/>
          </a:prstGeom>
          <a:solidFill>
            <a:srgbClr val="C3CCE3"/>
          </a:solidFill>
          <a:ln>
            <a:noFill/>
          </a:ln>
        </p:spPr>
        <p:txBody>
          <a:bodyPr lIns="82296" tIns="36576" rIns="82296" bIns="36576" anchor="ctr" wrap="square">
            <a:normAutofit/>
          </a:bodyPr>
          <a:lstStyle/>
          <a:p>
            <a:pPr algn="l"/>
            <a:endParaRPr lang="en-US"/>
          </a:p>
        </p:txBody>
      </p:sp>
      <p:sp>
        <p:nvSpPr>
          <p:cNvPr id="466" name="d"/>
          <p:cNvSpPr/>
          <p:nvPr/>
        </p:nvSpPr>
        <p:spPr>
          <a:xfrm>
            <a:off x="566928" y="4006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PORTS</a:t>
            </a:r>
          </a:p>
          <a:p>
            <a:pPr marL="0" indent="0" algn="ctr">
              <a:spcBef>
                <a:spcPts val="60"/>
              </a:spcBef>
              <a:buNone/>
            </a:pPr>
            <a:r>
              <a:rPr lang="en-US" sz="700" b="0" dirty="0">
                <a:solidFill>
                  <a:srgbClr val="A9BFFF"/>
                </a:solidFill>
              </a:rPr>
              <a:t>layer 4  ·  9 contracts</a:t>
            </a:r>
          </a:p>
        </p:txBody>
      </p:sp>
      <p:sp>
        <p:nvSpPr>
          <p:cNvPr id="467" name="d"/>
          <p:cNvSpPr/>
          <p:nvPr/>
        </p:nvSpPr>
        <p:spPr>
          <a:xfrm>
            <a:off x="566928" y="4006000"/>
            <a:ext cx="73152" cy="512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468" name="d"/>
          <p:cNvSpPr/>
          <p:nvPr/>
        </p:nvSpPr>
        <p:spPr>
          <a:xfrm>
            <a:off x="2606040" y="4006000"/>
            <a:ext cx="973836"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IssueTracker</a:t>
            </a:r>
          </a:p>
        </p:txBody>
      </p:sp>
      <p:sp>
        <p:nvSpPr>
          <p:cNvPr id="469" name="d"/>
          <p:cNvSpPr/>
          <p:nvPr/>
        </p:nvSpPr>
        <p:spPr>
          <a:xfrm>
            <a:off x="3648456" y="4006000"/>
            <a:ext cx="1217295"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ContextProvider</a:t>
            </a:r>
          </a:p>
        </p:txBody>
      </p:sp>
      <p:sp>
        <p:nvSpPr>
          <p:cNvPr id="470" name="d"/>
          <p:cNvSpPr/>
          <p:nvPr/>
        </p:nvSpPr>
        <p:spPr>
          <a:xfrm>
            <a:off x="4934331"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Roster</a:t>
            </a:r>
          </a:p>
        </p:txBody>
      </p:sp>
      <p:sp>
        <p:nvSpPr>
          <p:cNvPr id="471" name="d"/>
          <p:cNvSpPr/>
          <p:nvPr/>
        </p:nvSpPr>
        <p:spPr>
          <a:xfrm>
            <a:off x="5895594"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Calendar</a:t>
            </a:r>
          </a:p>
        </p:txBody>
      </p:sp>
      <p:sp>
        <p:nvSpPr>
          <p:cNvPr id="472" name="d"/>
          <p:cNvSpPr/>
          <p:nvPr/>
        </p:nvSpPr>
        <p:spPr>
          <a:xfrm>
            <a:off x="6856857"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Repository</a:t>
            </a:r>
          </a:p>
        </p:txBody>
      </p:sp>
      <p:sp>
        <p:nvSpPr>
          <p:cNvPr id="473" name="d"/>
          <p:cNvSpPr/>
          <p:nvPr/>
        </p:nvSpPr>
        <p:spPr>
          <a:xfrm>
            <a:off x="7818120"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Design</a:t>
            </a:r>
          </a:p>
        </p:txBody>
      </p:sp>
      <p:sp>
        <p:nvSpPr>
          <p:cNvPr id="474" name="d"/>
          <p:cNvSpPr/>
          <p:nvPr/>
        </p:nvSpPr>
        <p:spPr>
          <a:xfrm>
            <a:off x="8779383"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Transcript</a:t>
            </a:r>
          </a:p>
        </p:txBody>
      </p:sp>
      <p:sp>
        <p:nvSpPr>
          <p:cNvPr id="475" name="d"/>
          <p:cNvSpPr/>
          <p:nvPr/>
        </p:nvSpPr>
        <p:spPr>
          <a:xfrm>
            <a:off x="9740646"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Audit</a:t>
            </a:r>
          </a:p>
        </p:txBody>
      </p:sp>
      <p:sp>
        <p:nvSpPr>
          <p:cNvPr id="476" name="d"/>
          <p:cNvSpPr/>
          <p:nvPr/>
        </p:nvSpPr>
        <p:spPr>
          <a:xfrm>
            <a:off x="10701909" y="4006000"/>
            <a:ext cx="892683" cy="512000"/>
          </a:xfrm>
          <a:prstGeom prst="roundRect">
            <a:avLst>
              <a:gd name="adj" fmla="val 12000"/>
            </a:avLst>
          </a:prstGeom>
          <a:solidFill>
            <a:srgbClr val="E9F0FE"/>
          </a:solidFill>
          <a:ln w="9525">
            <a:solidFill>
              <a:srgbClr val="2E6AF6"/>
            </a:solidFill>
          </a:ln>
        </p:spPr>
        <p:txBody>
          <a:bodyPr lIns="45720" tIns="18288" rIns="45720" bIns="18288" anchor="ctr" wrap="square">
            <a:normAutofit/>
          </a:bodyPr>
          <a:lstStyle/>
          <a:p>
            <a:pPr marL="0" indent="0" algn="ctr">
              <a:buNone/>
            </a:pPr>
            <a:r>
              <a:rPr lang="en-US" sz="700" b="0" dirty="0">
                <a:solidFill>
                  <a:srgbClr val="08124F"/>
                </a:solidFill>
              </a:rPr>
              <a:t>Clock</a:t>
            </a:r>
          </a:p>
        </p:txBody>
      </p:sp>
      <p:sp>
        <p:nvSpPr>
          <p:cNvPr id="465" name="d"/>
          <p:cNvSpPr/>
          <p:nvPr/>
        </p:nvSpPr>
        <p:spPr>
          <a:xfrm>
            <a:off x="1472184" y="4527144"/>
            <a:ext cx="109728" cy="93726"/>
          </a:xfrm>
          <a:prstGeom prst="downArrow">
            <a:avLst/>
          </a:prstGeom>
          <a:solidFill>
            <a:srgbClr val="C3CCE3"/>
          </a:solidFill>
          <a:ln>
            <a:noFill/>
          </a:ln>
        </p:spPr>
        <p:txBody>
          <a:bodyPr lIns="82296" tIns="36576" rIns="82296" bIns="36576" anchor="ctr" wrap="square">
            <a:normAutofit/>
          </a:bodyPr>
          <a:lstStyle/>
          <a:p>
            <a:pPr algn="l"/>
            <a:endParaRPr lang="en-US"/>
          </a:p>
        </p:txBody>
      </p:sp>
      <p:sp>
        <p:nvSpPr>
          <p:cNvPr id="477" name="d"/>
          <p:cNvSpPr/>
          <p:nvPr/>
        </p:nvSpPr>
        <p:spPr>
          <a:xfrm>
            <a:off x="566928" y="4630000"/>
            <a:ext cx="1920240" cy="512000"/>
          </a:xfrm>
          <a:prstGeom prst="roundRect">
            <a:avLst>
              <a:gd name="adj" fmla="val 9000"/>
            </a:avLst>
          </a:prstGeom>
          <a:solidFill>
            <a:srgbClr val="08124F"/>
          </a:solidFill>
          <a:ln>
            <a:noFill/>
          </a:ln>
        </p:spPr>
        <p:txBody>
          <a:bodyPr lIns="82296" tIns="36576" rIns="82296" bIns="36576" anchor="ctr" wrap="square">
            <a:normAutofit/>
          </a:bodyPr>
          <a:lstStyle/>
          <a:p>
            <a:pPr marL="0" indent="0" algn="ctr">
              <a:buNone/>
            </a:pPr>
            <a:r>
              <a:rPr lang="en-US" sz="900" b="1" dirty="0">
                <a:solidFill>
                  <a:srgbClr val="FFFFFF"/>
                </a:solidFill>
              </a:rPr>
              <a:t>ADAPTERS</a:t>
            </a:r>
          </a:p>
          <a:p>
            <a:pPr marL="0" indent="0" algn="ctr">
              <a:spcBef>
                <a:spcPts val="60"/>
              </a:spcBef>
              <a:buNone/>
            </a:pPr>
            <a:r>
              <a:rPr lang="en-US" sz="700" b="0" dirty="0">
                <a:solidFill>
                  <a:srgbClr val="A9BFFF"/>
                </a:solidFill>
              </a:rPr>
              <a:t>layer 4  ·  swappable</a:t>
            </a:r>
          </a:p>
        </p:txBody>
      </p:sp>
      <p:sp>
        <p:nvSpPr>
          <p:cNvPr id="478" name="d"/>
          <p:cNvSpPr/>
          <p:nvPr/>
        </p:nvSpPr>
        <p:spPr>
          <a:xfrm>
            <a:off x="566928" y="4630000"/>
            <a:ext cx="73152" cy="512000"/>
          </a:xfrm>
          <a:prstGeom prst="rect">
            <a:avLst/>
          </a:prstGeom>
          <a:solidFill>
            <a:srgbClr val="5E6784"/>
          </a:solidFill>
          <a:ln>
            <a:noFill/>
          </a:ln>
        </p:spPr>
        <p:txBody>
          <a:bodyPr lIns="82296" tIns="36576" rIns="82296" bIns="36576" anchor="ctr" wrap="square">
            <a:normAutofit/>
          </a:bodyPr>
          <a:lstStyle/>
          <a:p>
            <a:pPr algn="l"/>
            <a:endParaRPr lang="en-US"/>
          </a:p>
        </p:txBody>
      </p:sp>
      <p:sp>
        <p:nvSpPr>
          <p:cNvPr id="479" name="d"/>
          <p:cNvSpPr/>
          <p:nvPr/>
        </p:nvSpPr>
        <p:spPr>
          <a:xfrm>
            <a:off x="2606040" y="4630000"/>
            <a:ext cx="1553328"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Jira + Confluence (MCP)</a:t>
            </a:r>
          </a:p>
        </p:txBody>
      </p:sp>
      <p:sp>
        <p:nvSpPr>
          <p:cNvPr id="480" name="d"/>
          <p:cNvSpPr/>
          <p:nvPr/>
        </p:nvSpPr>
        <p:spPr>
          <a:xfrm>
            <a:off x="4227948" y="4630000"/>
            <a:ext cx="1215648"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GitHub (MCP / CLI)</a:t>
            </a:r>
          </a:p>
        </p:txBody>
      </p:sp>
      <p:sp>
        <p:nvSpPr>
          <p:cNvPr id="481" name="d"/>
          <p:cNvSpPr/>
          <p:nvPr/>
        </p:nvSpPr>
        <p:spPr>
          <a:xfrm>
            <a:off x="5512176" y="4630000"/>
            <a:ext cx="742896"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Figma (MCP)</a:t>
            </a:r>
          </a:p>
        </p:txBody>
      </p:sp>
      <p:sp>
        <p:nvSpPr>
          <p:cNvPr id="482" name="d"/>
          <p:cNvSpPr/>
          <p:nvPr/>
        </p:nvSpPr>
        <p:spPr>
          <a:xfrm>
            <a:off x="6323652" y="4630000"/>
            <a:ext cx="1350720"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Teams (Graph + MSAL)</a:t>
            </a:r>
          </a:p>
        </p:txBody>
      </p:sp>
      <p:sp>
        <p:nvSpPr>
          <p:cNvPr id="483" name="d"/>
          <p:cNvSpPr/>
          <p:nvPr/>
        </p:nvSpPr>
        <p:spPr>
          <a:xfrm>
            <a:off x="7742952" y="4630000"/>
            <a:ext cx="1013040"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Calendars (ICS)</a:t>
            </a:r>
          </a:p>
        </p:txBody>
      </p:sp>
      <p:sp>
        <p:nvSpPr>
          <p:cNvPr id="484" name="d"/>
          <p:cNvSpPr/>
          <p:nvPr/>
        </p:nvSpPr>
        <p:spPr>
          <a:xfrm>
            <a:off x="8824572" y="4630000"/>
            <a:ext cx="877968"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Roster (XLSX)</a:t>
            </a:r>
          </a:p>
        </p:txBody>
      </p:sp>
      <p:sp>
        <p:nvSpPr>
          <p:cNvPr id="485" name="d"/>
          <p:cNvSpPr/>
          <p:nvPr/>
        </p:nvSpPr>
        <p:spPr>
          <a:xfrm>
            <a:off x="9771120" y="4630000"/>
            <a:ext cx="1823472" cy="512000"/>
          </a:xfrm>
          <a:prstGeom prst="roundRect">
            <a:avLst>
              <a:gd name="adj" fmla="val 12000"/>
            </a:avLst>
          </a:prstGeom>
          <a:solidFill>
            <a:srgbClr val="EEF0F6"/>
          </a:solidFill>
          <a:ln w="9525">
            <a:solidFill>
              <a:srgbClr val="5E6784"/>
            </a:solidFill>
          </a:ln>
        </p:spPr>
        <p:txBody>
          <a:bodyPr lIns="45720" tIns="18288" rIns="45720" bIns="18288" anchor="ctr" wrap="square">
            <a:normAutofit/>
          </a:bodyPr>
          <a:lstStyle/>
          <a:p>
            <a:pPr marL="0" indent="0" algn="ctr">
              <a:buNone/>
            </a:pPr>
            <a:r>
              <a:rPr lang="en-US" sz="700" b="0" dirty="0">
                <a:solidFill>
                  <a:srgbClr val="08124F"/>
                </a:solidFill>
              </a:rPr>
              <a:t>Mock Jira + fixtures — demo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02 / SOLUTION</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AI Effectiveness, Trust &amp; Responsible Use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Outputs you can check, and refusals you can rely on — the difference between a demo and something a team will actually adopt.</a:t>
            </a:r>
          </a:p>
        </p:txBody>
      </p:sp>
      <p:sp>
        <p:nvSpPr>
          <p:cNvPr id="5" name="Shape 3"/>
          <p:cNvSpPr/>
          <p:nvPr/>
        </p:nvSpPr>
        <p:spPr>
          <a:xfrm>
            <a:off x="566928"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600200"/>
            <a:ext cx="73152" cy="3401568"/>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EVIDENCE-GROUNDED OUTPUT</a:t>
            </a:r>
          </a:p>
        </p:txBody>
      </p:sp>
      <p:sp>
        <p:nvSpPr>
          <p:cNvPr id="8" name="Text 6"/>
          <p:cNvSpPr/>
          <p:nvPr/>
        </p:nvSpPr>
        <p:spPr>
          <a:xfrm>
            <a:off x="768096" y="2039112"/>
            <a:ext cx="3319272"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Every statement is a FACT with a named source or an explicitly labelled INFERENCE.</a:t>
            </a:r>
          </a:p>
          <a:p>
            <a:pPr marL="144000" indent="-144000">
              <a:spcBef>
                <a:spcPts val="420"/>
              </a:spcBef>
              <a:buFont typeface="Arial"/>
              <a:buChar char="•"/>
            </a:pPr>
            <a:r>
              <a:rPr lang="en-US" sz="880" b="0" dirty="0">
                <a:solidFill>
                  <a:srgbClr val="172044"/>
                </a:solidFill>
              </a:rPr>
              <a:t>A source that could not be read is reported by name — “github (not authenticated)” — never silently skipped. A complete-looking analysis built on a missing source is the dangerous failure mode.</a:t>
            </a:r>
          </a:p>
          <a:p>
            <a:pPr marL="144000" indent="-144000">
              <a:spcBef>
                <a:spcPts val="420"/>
              </a:spcBef>
              <a:buFont typeface="Arial"/>
              <a:buChar char="•"/>
            </a:pPr>
            <a:r>
              <a:rPr lang="en-US" sz="880" b="0" dirty="0">
                <a:solidFill>
                  <a:srgbClr val="172044"/>
                </a:solidFill>
              </a:rPr>
              <a:t>Requirement conflicts are surfaced with both sources rather than averaged away: Jira says 10,000 rows, Confluence says 50,000, and a human decides.</a:t>
            </a:r>
          </a:p>
          <a:p>
            <a:pPr marL="144000" indent="-144000">
              <a:spcBef>
                <a:spcPts val="420"/>
              </a:spcBef>
              <a:buFont typeface="Arial"/>
              <a:buChar char="•"/>
            </a:pPr>
            <a:r>
              <a:rPr lang="en-US" sz="880" b="0" dirty="0">
                <a:solidFill>
                  <a:srgbClr val="172044"/>
                </a:solidFill>
              </a:rPr>
              <a:t>No comparable stories → no estimate. No imported roster → no capacity number. The refusals are part of the product.</a:t>
            </a:r>
          </a:p>
        </p:txBody>
      </p:sp>
      <p:sp>
        <p:nvSpPr>
          <p:cNvPr id="9" name="Text 7"/>
          <p:cNvSpPr/>
          <p:nvPr/>
        </p:nvSpPr>
        <p:spPr>
          <a:xfrm>
            <a:off x="3813048" y="1728216"/>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A</a:t>
            </a:r>
            <a:endParaRPr lang="en-US" sz="1200" dirty="0"/>
          </a:p>
        </p:txBody>
      </p:sp>
      <p:sp>
        <p:nvSpPr>
          <p:cNvPr id="10" name="Shape 8"/>
          <p:cNvSpPr/>
          <p:nvPr/>
        </p:nvSpPr>
        <p:spPr>
          <a:xfrm>
            <a:off x="4416552"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16552" y="1600200"/>
            <a:ext cx="73152" cy="3401568"/>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4617720"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RESPONSIBLE AI &amp; SECURITY</a:t>
            </a:r>
          </a:p>
        </p:txBody>
      </p:sp>
      <p:sp>
        <p:nvSpPr>
          <p:cNvPr id="13" name="Text 11"/>
          <p:cNvSpPr/>
          <p:nvPr/>
        </p:nvSpPr>
        <p:spPr>
          <a:xfrm>
            <a:off x="4617720" y="2039112"/>
            <a:ext cx="3319272"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Content retrieved from Jira, Confluence, Teams and Figma is untrusted data. Embedded instructions are detected, quoted in the output and disobeyed.</a:t>
            </a:r>
          </a:p>
          <a:p>
            <a:pPr marL="144000" indent="-144000">
              <a:spcBef>
                <a:spcPts val="420"/>
              </a:spcBef>
              <a:buFont typeface="Arial"/>
              <a:buChar char="•"/>
            </a:pPr>
            <a:r>
              <a:rPr lang="en-US" sz="880" b="0" dirty="0">
                <a:solidFill>
                  <a:srgbClr val="172044"/>
                </a:solidFill>
              </a:rPr>
              <a:t>Model output is schema-validated. A malformed draft is rejected and shown, never quietly repaired into something plausible.</a:t>
            </a:r>
          </a:p>
          <a:p>
            <a:pPr marL="144000" indent="-144000">
              <a:spcBef>
                <a:spcPts val="420"/>
              </a:spcBef>
              <a:buFont typeface="Arial"/>
              <a:buChar char="•"/>
            </a:pPr>
            <a:r>
              <a:rPr lang="en-US" sz="880" b="0" dirty="0">
                <a:solidFill>
                  <a:srgbClr val="172044"/>
                </a:solidFill>
              </a:rPr>
              <a:t>Secrets and personal data are redacted before anything is logged or persisted, and a blocking setup check keeps the 638-person roster out of git.</a:t>
            </a:r>
          </a:p>
          <a:p>
            <a:pPr marL="144000" indent="-144000">
              <a:spcBef>
                <a:spcPts val="420"/>
              </a:spcBef>
              <a:buFont typeface="Arial"/>
              <a:buChar char="•"/>
            </a:pPr>
            <a:r>
              <a:rPr lang="en-US" sz="880" b="0" dirty="0">
                <a:solidFill>
                  <a:srgbClr val="172044"/>
                </a:solidFill>
              </a:rPr>
              <a:t>Calendar subscription URLs are treated as credentials — a literal URL committed to config is rejected.</a:t>
            </a:r>
          </a:p>
        </p:txBody>
      </p:sp>
      <p:sp>
        <p:nvSpPr>
          <p:cNvPr id="14" name="Text 12"/>
          <p:cNvSpPr/>
          <p:nvPr/>
        </p:nvSpPr>
        <p:spPr>
          <a:xfrm>
            <a:off x="7662672" y="1728216"/>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B</a:t>
            </a:r>
            <a:endParaRPr lang="en-US" sz="1200" dirty="0"/>
          </a:p>
        </p:txBody>
      </p:sp>
      <p:sp>
        <p:nvSpPr>
          <p:cNvPr id="15" name="Shape 13"/>
          <p:cNvSpPr/>
          <p:nvPr/>
        </p:nvSpPr>
        <p:spPr>
          <a:xfrm>
            <a:off x="8266176" y="1600200"/>
            <a:ext cx="3328416" cy="3401568"/>
          </a:xfrm>
          <a:prstGeom prst="roundRect">
            <a:avLst>
              <a:gd name="adj" fmla="val 274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66176" y="1600200"/>
            <a:ext cx="73152" cy="340156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67344" y="1755648"/>
            <a:ext cx="2962656"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HUMAN-CONTROLLED EXECUTION</a:t>
            </a:r>
          </a:p>
        </p:txBody>
      </p:sp>
      <p:sp>
        <p:nvSpPr>
          <p:cNvPr id="18" name="Text 16"/>
          <p:cNvSpPr/>
          <p:nvPr/>
        </p:nvSpPr>
        <p:spPr>
          <a:xfrm>
            <a:off x="8467344" y="2039112"/>
            <a:ext cx="2944368"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Three modes: READ_ONLY, DRAFT (the default, which cannot write) and EXECUTE.</a:t>
            </a:r>
          </a:p>
          <a:p>
            <a:pPr marL="144000" indent="-144000">
              <a:spcBef>
                <a:spcPts val="420"/>
              </a:spcBef>
              <a:buFont typeface="Arial"/>
              <a:buChar char="•"/>
            </a:pPr>
            <a:r>
              <a:rPr lang="en-US" sz="880" b="0" dirty="0">
                <a:solidFill>
                  <a:srgbClr val="172044"/>
                </a:solidFill>
              </a:rPr>
              <a:t>Only create_issue, link_to_epic and add_comment exist. There is no update, transition or delete path anywhere in the codebase.</a:t>
            </a:r>
          </a:p>
          <a:p>
            <a:pPr marL="144000" indent="-144000">
              <a:spcBef>
                <a:spcPts val="420"/>
              </a:spcBef>
              <a:buFont typeface="Arial"/>
              <a:buChar char="•"/>
            </a:pPr>
            <a:r>
              <a:rPr lang="en-US" sz="880" b="0" dirty="0">
                <a:solidFill>
                  <a:srgbClr val="172044"/>
                </a:solidFill>
              </a:rPr>
              <a:t>A write needs an unexpired proposal, a named approver, explicit item ids, an allowlisted project and an allowed operation — checked in code, not in a prompt.</a:t>
            </a:r>
          </a:p>
          <a:p>
            <a:pPr marL="144000" indent="-144000">
              <a:spcBef>
                <a:spcPts val="420"/>
              </a:spcBef>
              <a:buFont typeface="Arial"/>
              <a:buChar char="•"/>
            </a:pPr>
            <a:r>
              <a:rPr lang="en-US" sz="880" b="0" dirty="0">
                <a:solidFill>
                  <a:srgbClr val="172044"/>
                </a:solidFill>
              </a:rPr>
              <a:t>Idempotency keys mean a retry cannot double-create, and every run leaves an append-only, redacted audit trail.</a:t>
            </a:r>
          </a:p>
        </p:txBody>
      </p:sp>
      <p:sp>
        <p:nvSpPr>
          <p:cNvPr id="19" name="Text 17"/>
          <p:cNvSpPr/>
          <p:nvPr/>
        </p:nvSpPr>
        <p:spPr>
          <a:xfrm>
            <a:off x="11137392" y="1728216"/>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C</a:t>
            </a:r>
            <a:endParaRPr lang="en-US" sz="1200" dirty="0"/>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SHOW, DON’T TELL</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Silence is not approval and “looks good” is not approval. Approval is explicit, itemized, attributable — and it expires.</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03 / DEMO</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How It Works</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One prompt in; a verdict, a preview and an audit trail out — with a human decision in the middle.</a:t>
            </a:r>
          </a:p>
        </p:txBody>
      </p:sp>
      <p:sp>
        <p:nvSpPr>
          <p:cNvPr id="5" name="Shape 3"/>
          <p:cNvSpPr/>
          <p:nvPr/>
        </p:nvSpPr>
        <p:spPr>
          <a:xfrm>
            <a:off x="594360"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94360" y="1591056"/>
            <a:ext cx="73152" cy="1993392"/>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95528" y="1746504"/>
            <a:ext cx="17373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INPUT</a:t>
            </a:r>
          </a:p>
        </p:txBody>
      </p:sp>
      <p:sp>
        <p:nvSpPr>
          <p:cNvPr id="8" name="Text 6"/>
          <p:cNvSpPr/>
          <p:nvPr/>
        </p:nvSpPr>
        <p:spPr>
          <a:xfrm>
            <a:off x="795528" y="2029968"/>
            <a:ext cx="1719072" cy="1408176"/>
          </a:xfrm>
          <a:prstGeom prst="rect">
            <a:avLst/>
          </a:prstGeom>
          <a:noFill/>
          <a:ln/>
        </p:spPr>
        <p:txBody>
          <a:bodyPr wrap="square" lIns="381" tIns="381" rIns="381" bIns="381" rtlCol="0" anchor="t">
            <a:normAutofit/>
          </a:bodyPr>
          <a:lstStyle/>
          <a:p>
            <a:pPr marL="0" indent="0">
              <a:buNone/>
            </a:pPr>
            <a:r>
              <a:rPr lang="en-US" sz="850" b="1" dirty="0">
                <a:solidFill>
                  <a:srgbClr val="172044"/>
                </a:solidFill>
              </a:rPr>
              <a:t>An epic key, a sprint, or a plain-English question</a:t>
            </a:r>
          </a:p>
          <a:p>
            <a:pPr marL="0" indent="0">
              <a:spcBef>
                <a:spcPts val="420"/>
              </a:spcBef>
              <a:buNone/>
            </a:pPr>
            <a:r>
              <a:rPr lang="en-US" sz="850" b="0" dirty="0">
                <a:solidFill>
                  <a:srgbClr val="172044"/>
                </a:solidFill>
              </a:rPr>
              <a:t>Jira · Confluence · Teams transcripts · Figma · GitHub</a:t>
            </a:r>
          </a:p>
          <a:p>
            <a:pPr marL="0" indent="0">
              <a:spcBef>
                <a:spcPts val="420"/>
              </a:spcBef>
              <a:buNone/>
            </a:pPr>
            <a:r>
              <a:rPr lang="en-US" sz="850" b="0" dirty="0">
                <a:solidFill>
                  <a:srgbClr val="172044"/>
                </a:solidFill>
              </a:rPr>
              <a:t>Roster, leave and holiday calendars</a:t>
            </a:r>
          </a:p>
          <a:p>
            <a:pPr marL="0" indent="0">
              <a:spcBef>
                <a:spcPts val="420"/>
              </a:spcBef>
              <a:buNone/>
            </a:pPr>
            <a:r>
              <a:rPr lang="en-US" sz="850" b="0" dirty="0">
                <a:solidFill>
                  <a:srgbClr val="172044"/>
                </a:solidFill>
              </a:rPr>
              <a:t>Definition of Ready / Done as JSON policy</a:t>
            </a:r>
          </a:p>
        </p:txBody>
      </p:sp>
      <p:sp>
        <p:nvSpPr>
          <p:cNvPr id="9" name="Text 7"/>
          <p:cNvSpPr/>
          <p:nvPr/>
        </p:nvSpPr>
        <p:spPr>
          <a:xfrm>
            <a:off x="2240280" y="1719072"/>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2715768"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11" name="Shape 9"/>
          <p:cNvSpPr/>
          <p:nvPr/>
        </p:nvSpPr>
        <p:spPr>
          <a:xfrm>
            <a:off x="3035808"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2" name="Shape 10"/>
          <p:cNvSpPr/>
          <p:nvPr/>
        </p:nvSpPr>
        <p:spPr>
          <a:xfrm>
            <a:off x="3035808" y="1591056"/>
            <a:ext cx="73152" cy="1993392"/>
          </a:xfrm>
          <a:prstGeom prst="rect">
            <a:avLst/>
          </a:prstGeom>
          <a:solidFill>
            <a:srgbClr val="35C7D8"/>
          </a:solidFill>
          <a:ln w="12700">
            <a:solidFill>
              <a:srgbClr val="35C7D8"/>
            </a:solidFill>
            <a:prstDash val="solid"/>
          </a:ln>
        </p:spPr>
        <p:txBody>
          <a:bodyPr/>
          <a:lstStyle/>
          <a:p>
            <a:endParaRPr lang="en-US"/>
          </a:p>
        </p:txBody>
      </p:sp>
      <p:sp>
        <p:nvSpPr>
          <p:cNvPr id="13" name="Text 11"/>
          <p:cNvSpPr/>
          <p:nvPr/>
        </p:nvSpPr>
        <p:spPr>
          <a:xfrm>
            <a:off x="3236976" y="1746504"/>
            <a:ext cx="17373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INTELLIGENCE</a:t>
            </a:r>
          </a:p>
        </p:txBody>
      </p:sp>
      <p:sp>
        <p:nvSpPr>
          <p:cNvPr id="14" name="Text 12"/>
          <p:cNvSpPr/>
          <p:nvPr/>
        </p:nvSpPr>
        <p:spPr>
          <a:xfrm>
            <a:off x="3236976" y="2029968"/>
            <a:ext cx="1719072" cy="1408176"/>
          </a:xfrm>
          <a:prstGeom prst="rect">
            <a:avLst/>
          </a:prstGeom>
          <a:noFill/>
          <a:ln/>
        </p:spPr>
        <p:txBody>
          <a:bodyPr wrap="square" lIns="381" tIns="381" rIns="381" bIns="381" rtlCol="0" anchor="t">
            <a:normAutofit/>
          </a:bodyPr>
          <a:lstStyle/>
          <a:p>
            <a:pPr marL="0" indent="0">
              <a:buNone/>
            </a:pPr>
            <a:r>
              <a:rPr lang="en-US" sz="850" b="1" dirty="0">
                <a:solidFill>
                  <a:srgbClr val="172044"/>
                </a:solidFill>
              </a:rPr>
              <a:t>Orchestrator resolves context, routes to 1 of 16 specialists</a:t>
            </a:r>
          </a:p>
          <a:p>
            <a:pPr marL="0" indent="0">
              <a:spcBef>
                <a:spcPts val="420"/>
              </a:spcBef>
              <a:buNone/>
            </a:pPr>
            <a:r>
              <a:rPr lang="en-US" sz="850" b="0" dirty="0">
                <a:solidFill>
                  <a:srgbClr val="172044"/>
                </a:solidFill>
              </a:rPr>
              <a:t>LLM extracts requirements, conflicts and drafts</a:t>
            </a:r>
          </a:p>
          <a:p>
            <a:pPr marL="0" indent="0">
              <a:spcBef>
                <a:spcPts val="420"/>
              </a:spcBef>
              <a:buNone/>
            </a:pPr>
            <a:r>
              <a:rPr lang="en-US" sz="850" b="0" dirty="0">
                <a:solidFill>
                  <a:srgbClr val="172044"/>
                </a:solidFill>
              </a:rPr>
              <a:t>Engine grades, scores and decides across 22 stages</a:t>
            </a:r>
          </a:p>
          <a:p>
            <a:pPr marL="0" indent="0">
              <a:spcBef>
                <a:spcPts val="420"/>
              </a:spcBef>
              <a:buNone/>
            </a:pPr>
            <a:r>
              <a:rPr lang="en-US" sz="850" b="0" dirty="0">
                <a:solidFill>
                  <a:srgbClr val="172044"/>
                </a:solidFill>
              </a:rPr>
              <a:t>Schema rejects any malformed model output</a:t>
            </a:r>
          </a:p>
        </p:txBody>
      </p:sp>
      <p:sp>
        <p:nvSpPr>
          <p:cNvPr id="15" name="Text 13"/>
          <p:cNvSpPr/>
          <p:nvPr/>
        </p:nvSpPr>
        <p:spPr>
          <a:xfrm>
            <a:off x="4681728" y="1719072"/>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6" name="Shape 14"/>
          <p:cNvSpPr/>
          <p:nvPr/>
        </p:nvSpPr>
        <p:spPr>
          <a:xfrm>
            <a:off x="5157216"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17" name="Shape 15"/>
          <p:cNvSpPr/>
          <p:nvPr/>
        </p:nvSpPr>
        <p:spPr>
          <a:xfrm>
            <a:off x="5486400"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8" name="Shape 16"/>
          <p:cNvSpPr/>
          <p:nvPr/>
        </p:nvSpPr>
        <p:spPr>
          <a:xfrm>
            <a:off x="5486400" y="1591056"/>
            <a:ext cx="73152" cy="1993392"/>
          </a:xfrm>
          <a:prstGeom prst="rect">
            <a:avLst/>
          </a:prstGeom>
          <a:solidFill>
            <a:srgbClr val="FFC83D"/>
          </a:solidFill>
          <a:ln w="12700">
            <a:solidFill>
              <a:srgbClr val="FFC83D"/>
            </a:solidFill>
            <a:prstDash val="solid"/>
          </a:ln>
        </p:spPr>
        <p:txBody>
          <a:bodyPr/>
          <a:lstStyle/>
          <a:p>
            <a:endParaRPr lang="en-US"/>
          </a:p>
        </p:txBody>
      </p:sp>
      <p:sp>
        <p:nvSpPr>
          <p:cNvPr id="19" name="Text 17"/>
          <p:cNvSpPr/>
          <p:nvPr/>
        </p:nvSpPr>
        <p:spPr>
          <a:xfrm>
            <a:off x="5687568" y="1746504"/>
            <a:ext cx="17373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ACTION</a:t>
            </a:r>
          </a:p>
        </p:txBody>
      </p:sp>
      <p:sp>
        <p:nvSpPr>
          <p:cNvPr id="20" name="Text 18"/>
          <p:cNvSpPr/>
          <p:nvPr/>
        </p:nvSpPr>
        <p:spPr>
          <a:xfrm>
            <a:off x="5687568" y="2029968"/>
            <a:ext cx="1719072" cy="1408176"/>
          </a:xfrm>
          <a:prstGeom prst="rect">
            <a:avLst/>
          </a:prstGeom>
          <a:noFill/>
          <a:ln/>
        </p:spPr>
        <p:txBody>
          <a:bodyPr wrap="square" lIns="381" tIns="381" rIns="381" bIns="381" rtlCol="0" anchor="t">
            <a:normAutofit/>
          </a:bodyPr>
          <a:lstStyle/>
          <a:p>
            <a:pPr marL="0" indent="0">
              <a:buNone/>
            </a:pPr>
            <a:r>
              <a:rPr lang="en-US" sz="850" b="1" dirty="0">
                <a:solidFill>
                  <a:srgbClr val="172044"/>
                </a:solidFill>
              </a:rPr>
              <a:t>An itemized, field-level preview of every change</a:t>
            </a:r>
          </a:p>
          <a:p>
            <a:pPr marL="0" indent="0">
              <a:spcBef>
                <a:spcPts val="420"/>
              </a:spcBef>
              <a:buNone/>
            </a:pPr>
            <a:r>
              <a:rPr lang="en-US" sz="850" b="0" dirty="0">
                <a:solidFill>
                  <a:srgbClr val="172044"/>
                </a:solidFill>
              </a:rPr>
              <a:t>The run pauses at AWAITING_APPROVAL — nothing written</a:t>
            </a:r>
          </a:p>
          <a:p>
            <a:pPr marL="0" indent="0">
              <a:spcBef>
                <a:spcPts val="420"/>
              </a:spcBef>
              <a:buNone/>
            </a:pPr>
            <a:r>
              <a:rPr lang="en-US" sz="850" b="0" dirty="0">
                <a:solidFill>
                  <a:srgbClr val="172044"/>
                </a:solidFill>
              </a:rPr>
              <a:t>On approval: create_issue, link_to_epic, add_comment</a:t>
            </a:r>
          </a:p>
          <a:p>
            <a:pPr marL="0" indent="0">
              <a:spcBef>
                <a:spcPts val="420"/>
              </a:spcBef>
              <a:buNone/>
            </a:pPr>
            <a:r>
              <a:rPr lang="en-US" sz="850" b="0" dirty="0">
                <a:solidFill>
                  <a:srgbClr val="172044"/>
                </a:solidFill>
              </a:rPr>
              <a:t>Every outcome appended to the audit trail</a:t>
            </a:r>
          </a:p>
        </p:txBody>
      </p:sp>
      <p:sp>
        <p:nvSpPr>
          <p:cNvPr id="21" name="Text 19"/>
          <p:cNvSpPr/>
          <p:nvPr/>
        </p:nvSpPr>
        <p:spPr>
          <a:xfrm>
            <a:off x="7132320" y="1719072"/>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2" name="Shape 20"/>
          <p:cNvSpPr/>
          <p:nvPr/>
        </p:nvSpPr>
        <p:spPr>
          <a:xfrm>
            <a:off x="7598664" y="2258568"/>
            <a:ext cx="256032" cy="384048"/>
          </a:xfrm>
          <a:prstGeom prst="chevron">
            <a:avLst/>
          </a:prstGeom>
          <a:solidFill>
            <a:srgbClr val="C8D0E4"/>
          </a:solidFill>
          <a:ln w="12700">
            <a:solidFill>
              <a:srgbClr val="C8D0E4"/>
            </a:solidFill>
            <a:prstDash val="solid"/>
          </a:ln>
        </p:spPr>
        <p:txBody>
          <a:bodyPr/>
          <a:lstStyle/>
          <a:p>
            <a:endParaRPr lang="en-US"/>
          </a:p>
        </p:txBody>
      </p:sp>
      <p:sp>
        <p:nvSpPr>
          <p:cNvPr id="23" name="Shape 21"/>
          <p:cNvSpPr/>
          <p:nvPr/>
        </p:nvSpPr>
        <p:spPr>
          <a:xfrm>
            <a:off x="7936992" y="1591056"/>
            <a:ext cx="2103120" cy="1993392"/>
          </a:xfrm>
          <a:prstGeom prst="roundRect">
            <a:avLst>
              <a:gd name="adj" fmla="val 458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4" name="Shape 22"/>
          <p:cNvSpPr/>
          <p:nvPr/>
        </p:nvSpPr>
        <p:spPr>
          <a:xfrm>
            <a:off x="7936992" y="1591056"/>
            <a:ext cx="73152" cy="1993392"/>
          </a:xfrm>
          <a:prstGeom prst="rect">
            <a:avLst/>
          </a:prstGeom>
          <a:solidFill>
            <a:srgbClr val="38B27B"/>
          </a:solidFill>
          <a:ln w="12700">
            <a:solidFill>
              <a:srgbClr val="38B27B"/>
            </a:solidFill>
            <a:prstDash val="solid"/>
          </a:ln>
        </p:spPr>
        <p:txBody>
          <a:bodyPr/>
          <a:lstStyle/>
          <a:p>
            <a:endParaRPr lang="en-US"/>
          </a:p>
        </p:txBody>
      </p:sp>
      <p:sp>
        <p:nvSpPr>
          <p:cNvPr id="25" name="Text 23"/>
          <p:cNvSpPr/>
          <p:nvPr/>
        </p:nvSpPr>
        <p:spPr>
          <a:xfrm>
            <a:off x="8138160" y="1746504"/>
            <a:ext cx="17373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OUTCOME</a:t>
            </a:r>
          </a:p>
        </p:txBody>
      </p:sp>
      <p:sp>
        <p:nvSpPr>
          <p:cNvPr id="26" name="Text 24"/>
          <p:cNvSpPr/>
          <p:nvPr/>
        </p:nvSpPr>
        <p:spPr>
          <a:xfrm>
            <a:off x="8138160" y="2029968"/>
            <a:ext cx="1719072" cy="1408176"/>
          </a:xfrm>
          <a:prstGeom prst="rect">
            <a:avLst/>
          </a:prstGeom>
          <a:noFill/>
          <a:ln/>
        </p:spPr>
        <p:txBody>
          <a:bodyPr wrap="square" lIns="381" tIns="381" rIns="381" bIns="381" rtlCol="0" anchor="t">
            <a:normAutofit/>
          </a:bodyPr>
          <a:lstStyle/>
          <a:p>
            <a:pPr marL="0" indent="0">
              <a:buNone/>
            </a:pPr>
            <a:r>
              <a:rPr lang="en-US" sz="850" b="1" dirty="0">
                <a:solidFill>
                  <a:srgbClr val="172044"/>
                </a:solidFill>
              </a:rPr>
              <a:t>A verdict with its evidence and a confidence score</a:t>
            </a:r>
          </a:p>
          <a:p>
            <a:pPr marL="0" indent="0">
              <a:spcBef>
                <a:spcPts val="420"/>
              </a:spcBef>
              <a:buNone/>
            </a:pPr>
            <a:r>
              <a:rPr lang="en-US" sz="850" b="0" dirty="0">
                <a:solidFill>
                  <a:srgbClr val="172044"/>
                </a:solidFill>
              </a:rPr>
              <a:t>Stories, acceptance criteria and manual test cases</a:t>
            </a:r>
          </a:p>
          <a:p>
            <a:pPr marL="0" indent="0">
              <a:spcBef>
                <a:spcPts val="420"/>
              </a:spcBef>
              <a:buNone/>
            </a:pPr>
            <a:r>
              <a:rPr lang="en-US" sz="850" b="0" dirty="0">
                <a:solidFill>
                  <a:srgbClr val="172044"/>
                </a:solidFill>
              </a:rPr>
              <a:t>Requirement and AC coverage matrices</a:t>
            </a:r>
          </a:p>
          <a:p>
            <a:pPr marL="0" indent="0">
              <a:spcBef>
                <a:spcPts val="420"/>
              </a:spcBef>
              <a:buNone/>
            </a:pPr>
            <a:r>
              <a:rPr lang="en-US" sz="850" b="0" dirty="0">
                <a:solidFill>
                  <a:srgbClr val="172044"/>
                </a:solidFill>
              </a:rPr>
              <a:t>Named blockers, owners, estimates and next actions</a:t>
            </a:r>
          </a:p>
        </p:txBody>
      </p:sp>
      <p:sp>
        <p:nvSpPr>
          <p:cNvPr id="27" name="Text 25"/>
          <p:cNvSpPr/>
          <p:nvPr/>
        </p:nvSpPr>
        <p:spPr>
          <a:xfrm>
            <a:off x="9582912" y="1719072"/>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8" name="Shape 26"/>
          <p:cNvSpPr/>
          <p:nvPr/>
        </p:nvSpPr>
        <p:spPr>
          <a:xfrm>
            <a:off x="594360" y="3886200"/>
            <a:ext cx="3337560" cy="1554480"/>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9" name="Shape 27"/>
          <p:cNvSpPr/>
          <p:nvPr/>
        </p:nvSpPr>
        <p:spPr>
          <a:xfrm>
            <a:off x="594360" y="3886200"/>
            <a:ext cx="73152" cy="1554480"/>
          </a:xfrm>
          <a:prstGeom prst="rect">
            <a:avLst/>
          </a:prstGeom>
          <a:solidFill>
            <a:srgbClr val="2E6AF6"/>
          </a:solidFill>
          <a:ln w="12700">
            <a:solidFill>
              <a:srgbClr val="2E6AF6"/>
            </a:solidFill>
            <a:prstDash val="solid"/>
          </a:ln>
        </p:spPr>
        <p:txBody>
          <a:bodyPr/>
          <a:lstStyle/>
          <a:p>
            <a:endParaRPr lang="en-US"/>
          </a:p>
        </p:txBody>
      </p:sp>
      <p:sp>
        <p:nvSpPr>
          <p:cNvPr id="30" name="Text 28"/>
          <p:cNvSpPr/>
          <p:nvPr/>
        </p:nvSpPr>
        <p:spPr>
          <a:xfrm>
            <a:off x="795528" y="4041648"/>
            <a:ext cx="297180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KEY FEATURES</a:t>
            </a:r>
          </a:p>
        </p:txBody>
      </p:sp>
      <p:sp>
        <p:nvSpPr>
          <p:cNvPr id="31" name="Text 29"/>
          <p:cNvSpPr/>
          <p:nvPr/>
        </p:nvSpPr>
        <p:spPr>
          <a:xfrm>
            <a:off x="795528" y="4325112"/>
            <a:ext cx="2953512" cy="1005840"/>
          </a:xfrm>
          <a:prstGeom prst="rect">
            <a:avLst/>
          </a:prstGeom>
          <a:noFill/>
          <a:ln/>
        </p:spPr>
        <p:txBody>
          <a:bodyPr wrap="square" lIns="381" tIns="381" rIns="381" bIns="381" rtlCol="0" anchor="t">
            <a:normAutofit/>
          </a:bodyPr>
          <a:lstStyle/>
          <a:p>
            <a:pPr marL="144000" indent="-144000">
              <a:buFont typeface="Arial"/>
              <a:buChar char="•"/>
            </a:pPr>
            <a:r>
              <a:rPr lang="en-US" sz="850" b="0" dirty="0">
                <a:solidFill>
                  <a:srgbClr val="172044"/>
                </a:solidFill>
              </a:rPr>
              <a:t>Readiness, capacity, closure, dependency, risk, estimation, prioritisation and portfolio analysis in one copilot</a:t>
            </a:r>
          </a:p>
          <a:p>
            <a:pPr marL="144000" indent="-144000">
              <a:spcBef>
                <a:spcPts val="420"/>
              </a:spcBef>
              <a:buFont typeface="Arial"/>
              <a:buChar char="•"/>
            </a:pPr>
            <a:r>
              <a:rPr lang="en-US" sz="850" b="0" dirty="0">
                <a:solidFill>
                  <a:srgbClr val="172044"/>
                </a:solidFill>
              </a:rPr>
              <a:t>Story and manual test case generation with requirement and acceptance-criterion traceability</a:t>
            </a:r>
          </a:p>
          <a:p>
            <a:pPr marL="144000" indent="-144000">
              <a:spcBef>
                <a:spcPts val="420"/>
              </a:spcBef>
              <a:buFont typeface="Arial"/>
              <a:buChar char="•"/>
            </a:pPr>
            <a:r>
              <a:rPr lang="en-US" sz="850" b="0" dirty="0">
                <a:solidFill>
                  <a:srgbClr val="172044"/>
                </a:solidFill>
              </a:rPr>
              <a:t>Resumable 22-stage workflow with a human approval gate and a full audit trail</a:t>
            </a:r>
          </a:p>
        </p:txBody>
      </p:sp>
      <p:sp>
        <p:nvSpPr>
          <p:cNvPr id="32" name="Shape 30"/>
          <p:cNvSpPr/>
          <p:nvPr/>
        </p:nvSpPr>
        <p:spPr>
          <a:xfrm>
            <a:off x="4087368" y="3886200"/>
            <a:ext cx="3337560" cy="1554480"/>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33" name="Shape 31"/>
          <p:cNvSpPr/>
          <p:nvPr/>
        </p:nvSpPr>
        <p:spPr>
          <a:xfrm>
            <a:off x="4087368" y="3886200"/>
            <a:ext cx="73152" cy="1554480"/>
          </a:xfrm>
          <a:prstGeom prst="rect">
            <a:avLst/>
          </a:prstGeom>
          <a:solidFill>
            <a:srgbClr val="35C7D8"/>
          </a:solidFill>
          <a:ln w="12700">
            <a:solidFill>
              <a:srgbClr val="35C7D8"/>
            </a:solidFill>
            <a:prstDash val="solid"/>
          </a:ln>
        </p:spPr>
        <p:txBody>
          <a:bodyPr/>
          <a:lstStyle/>
          <a:p>
            <a:endParaRPr lang="en-US"/>
          </a:p>
        </p:txBody>
      </p:sp>
      <p:sp>
        <p:nvSpPr>
          <p:cNvPr id="34" name="Text 32"/>
          <p:cNvSpPr/>
          <p:nvPr/>
        </p:nvSpPr>
        <p:spPr>
          <a:xfrm>
            <a:off x="4288536" y="4041648"/>
            <a:ext cx="297180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TECH STACK</a:t>
            </a:r>
          </a:p>
        </p:txBody>
      </p:sp>
      <p:sp>
        <p:nvSpPr>
          <p:cNvPr id="35" name="Text 33"/>
          <p:cNvSpPr/>
          <p:nvPr/>
        </p:nvSpPr>
        <p:spPr>
          <a:xfrm>
            <a:off x="4288536" y="4325112"/>
            <a:ext cx="2953512" cy="1005840"/>
          </a:xfrm>
          <a:prstGeom prst="rect">
            <a:avLst/>
          </a:prstGeom>
          <a:noFill/>
          <a:ln/>
        </p:spPr>
        <p:txBody>
          <a:bodyPr wrap="square" lIns="381" tIns="381" rIns="381" bIns="381" rtlCol="0" anchor="t">
            <a:normAutofit/>
          </a:bodyPr>
          <a:lstStyle/>
          <a:p>
            <a:pPr marL="144000" indent="-144000">
              <a:buFont typeface="Arial"/>
              <a:buChar char="•"/>
            </a:pPr>
            <a:r>
              <a:rPr lang="en-US" sz="850" b="0" dirty="0">
                <a:solidFill>
                  <a:srgbClr val="172044"/>
                </a:solidFill>
              </a:rPr>
              <a:t>GitHub Copilot agents and skills in VS Code · MCP servers: Atlassian (Jira, Confluence), GitHub, Figma</a:t>
            </a:r>
          </a:p>
          <a:p>
            <a:pPr marL="144000" indent="-144000">
              <a:spcBef>
                <a:spcPts val="420"/>
              </a:spcBef>
              <a:buFont typeface="Arial"/>
              <a:buChar char="•"/>
            </a:pPr>
            <a:r>
              <a:rPr lang="en-US" sz="850" b="0" dirty="0">
                <a:solidFill>
                  <a:srgbClr val="172044"/>
                </a:solidFill>
              </a:rPr>
              <a:t>Node.js 22, zero runtime dependencies · Microsoft Graph + MSAL device code for Teams transcripts</a:t>
            </a:r>
          </a:p>
          <a:p>
            <a:pPr marL="144000" indent="-144000">
              <a:spcBef>
                <a:spcPts val="420"/>
              </a:spcBef>
              <a:buFont typeface="Arial"/>
              <a:buChar char="•"/>
            </a:pPr>
            <a:r>
              <a:rPr lang="en-US" sz="850" b="0" dirty="0">
                <a:solidFill>
                  <a:srgbClr val="172044"/>
                </a:solidFill>
              </a:rPr>
              <a:t>JSON policy config · NDJSON audit log · hand-rolled XLSX and ZIP writers</a:t>
            </a:r>
          </a:p>
        </p:txBody>
      </p:sp>
      <p:sp>
        <p:nvSpPr>
          <p:cNvPr id="36" name="Shape 34"/>
          <p:cNvSpPr/>
          <p:nvPr/>
        </p:nvSpPr>
        <p:spPr>
          <a:xfrm>
            <a:off x="7580376" y="3886200"/>
            <a:ext cx="4014216" cy="1554480"/>
          </a:xfrm>
          <a:prstGeom prst="roundRect">
            <a:avLst>
              <a:gd name="adj" fmla="val 7042"/>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37" name="Shape 35"/>
          <p:cNvSpPr/>
          <p:nvPr/>
        </p:nvSpPr>
        <p:spPr>
          <a:xfrm>
            <a:off x="7580376" y="3886200"/>
            <a:ext cx="73152" cy="1554480"/>
          </a:xfrm>
          <a:prstGeom prst="rect">
            <a:avLst/>
          </a:prstGeom>
          <a:solidFill>
            <a:srgbClr val="FFC83D"/>
          </a:solidFill>
          <a:ln w="12700">
            <a:solidFill>
              <a:srgbClr val="FFC83D"/>
            </a:solidFill>
            <a:prstDash val="solid"/>
          </a:ln>
        </p:spPr>
        <p:txBody>
          <a:bodyPr/>
          <a:lstStyle/>
          <a:p>
            <a:endParaRPr lang="en-US"/>
          </a:p>
        </p:txBody>
      </p:sp>
      <p:sp>
        <p:nvSpPr>
          <p:cNvPr id="38" name="Text 36"/>
          <p:cNvSpPr/>
          <p:nvPr/>
        </p:nvSpPr>
        <p:spPr>
          <a:xfrm>
            <a:off x="7781544" y="4041648"/>
            <a:ext cx="3648456"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DEMO, CODE &amp; EVIDENCE</a:t>
            </a:r>
          </a:p>
        </p:txBody>
      </p:sp>
      <p:sp>
        <p:nvSpPr>
          <p:cNvPr id="39" name="Text 37"/>
          <p:cNvSpPr/>
          <p:nvPr/>
        </p:nvSpPr>
        <p:spPr>
          <a:xfrm>
            <a:off x="7781544" y="4325112"/>
            <a:ext cx="3630168" cy="1005840"/>
          </a:xfrm>
          <a:prstGeom prst="rect">
            <a:avLst/>
          </a:prstGeom>
          <a:noFill/>
          <a:ln/>
        </p:spPr>
        <p:txBody>
          <a:bodyPr wrap="square" lIns="381" tIns="381" rIns="381" bIns="381" rtlCol="0" anchor="t">
            <a:normAutofit/>
          </a:bodyPr>
          <a:lstStyle/>
          <a:p>
            <a:pPr marL="0" indent="0">
              <a:buNone/>
            </a:pPr>
            <a:r>
              <a:rPr lang="en-US" sz="850" b="1" dirty="0">
                <a:solidFill>
                  <a:srgbClr val="2E6AF6"/>
                </a:solidFill>
              </a:rPr>
              <a:t>github.com/niq-enterprise/refineai-product-delivery</a:t>
            </a:r>
          </a:p>
          <a:p>
            <a:pPr marL="144000" indent="-144000">
              <a:spcBef>
                <a:spcPts val="420"/>
              </a:spcBef>
              <a:buFont typeface="Arial"/>
              <a:buChar char="•"/>
            </a:pPr>
            <a:r>
              <a:rPr lang="en-US" sz="850" b="0" dirty="0">
                <a:solidFill>
                  <a:srgbClr val="172044"/>
                </a:solidFill>
              </a:rPr>
              <a:t>npm test → 367 passing, no network and no credentials</a:t>
            </a:r>
          </a:p>
          <a:p>
            <a:pPr marL="144000" indent="-144000">
              <a:spcBef>
                <a:spcPts val="420"/>
              </a:spcBef>
              <a:buFont typeface="Arial"/>
              <a:buChar char="•"/>
            </a:pPr>
            <a:r>
              <a:rPr lang="en-US" sz="850" b="0" dirty="0">
                <a:solidFill>
                  <a:srgbClr val="172044"/>
                </a:solidFill>
              </a:rPr>
              <a:t>npm run refineai:demo → the whole journey against a sanitized fixture and a mock Jira</a:t>
            </a:r>
          </a:p>
          <a:p>
            <a:pPr marL="144000" indent="-144000">
              <a:spcBef>
                <a:spcPts val="420"/>
              </a:spcBef>
              <a:buFont typeface="Arial"/>
              <a:buChar char="•"/>
            </a:pPr>
            <a:r>
              <a:rPr lang="en-US" sz="850" b="0" dirty="0">
                <a:solidFill>
                  <a:srgbClr val="172044"/>
                </a:solidFill>
              </a:rPr>
              <a:t>Saved artifacts in the repo: portfolio briefs, ticket reviews, workflow state and audit logs</a:t>
            </a:r>
          </a:p>
        </p:txBody>
      </p:sp>
      <p:sp>
        <p:nvSpPr>
          <p:cNvPr id="40"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4</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03 / DEMO</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End-to-End Workflow: 22 Stages, One Pause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A stage that did not apply is never confused with one that was forgotten — every stage records DONE, SKIPPED with a reason, or FAILED.</a:t>
            </a:r>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MODE-AWARE</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In DRAFT and ANALYZE_ONLY the gate is skipped with a recorded reason — you are interrupted only when a change is genuinely imminent.</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
        <p:nvSpPr>
          <p:cNvPr id="486" name="d"/>
          <p:cNvSpPr/>
          <p:nvPr/>
        </p:nvSpPr>
        <p:spPr>
          <a:xfrm>
            <a:off x="566928" y="1500000"/>
            <a:ext cx="2981916" cy="600000"/>
          </a:xfrm>
          <a:prstGeom prst="chevron">
            <a:avLst/>
          </a:prstGeom>
          <a:solidFill>
            <a:srgbClr val="2E6AF6"/>
          </a:solidFill>
          <a:ln>
            <a:noFill/>
          </a:ln>
        </p:spPr>
        <p:txBody>
          <a:bodyPr lIns="320000" tIns="27432" rIns="140000" bIns="27432" anchor="ctr" wrap="square">
            <a:normAutofit/>
          </a:bodyPr>
          <a:lstStyle/>
          <a:p>
            <a:pPr marL="0" indent="0" algn="ctr">
              <a:buNone/>
            </a:pPr>
            <a:r>
              <a:rPr lang="en-US" sz="950" b="1" dirty="0">
                <a:solidFill>
                  <a:srgbClr val="FFFFFF"/>
                </a:solidFill>
              </a:rPr>
              <a:t>COLLECT &amp; NORMALIZE</a:t>
            </a:r>
          </a:p>
          <a:p>
            <a:pPr marL="0" indent="0" algn="ctr">
              <a:spcBef>
                <a:spcPts val="60"/>
              </a:spcBef>
              <a:buNone/>
            </a:pPr>
            <a:r>
              <a:rPr lang="en-US" sz="700" b="0" dirty="0">
                <a:solidFill>
                  <a:srgbClr val="FFFFFF"/>
                </a:solidFill>
              </a:rPr>
              <a:t>stages 1–7</a:t>
            </a:r>
          </a:p>
        </p:txBody>
      </p:sp>
      <p:sp>
        <p:nvSpPr>
          <p:cNvPr id="487" name="d"/>
          <p:cNvSpPr/>
          <p:nvPr/>
        </p:nvSpPr>
        <p:spPr>
          <a:xfrm>
            <a:off x="566928" y="2220000"/>
            <a:ext cx="2654046" cy="172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88" name="d"/>
          <p:cNvSpPr/>
          <p:nvPr/>
        </p:nvSpPr>
        <p:spPr>
          <a:xfrm>
            <a:off x="566928" y="2220000"/>
            <a:ext cx="73152" cy="172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489" name="d"/>
          <p:cNvSpPr/>
          <p:nvPr/>
        </p:nvSpPr>
        <p:spPr>
          <a:xfrm>
            <a:off x="736928" y="2340000"/>
            <a:ext cx="2354046" cy="1480000"/>
          </a:xfrm>
          <a:prstGeom prst="rect">
            <a:avLst/>
          </a:prstGeom>
          <a:noFill/>
          <a:ln>
            <a:noFill/>
          </a:ln>
        </p:spPr>
        <p:txBody>
          <a:bodyPr lIns="0" tIns="0" rIns="0" bIns="0" anchor="t" wrap="square">
            <a:normAutofit/>
          </a:bodyPr>
          <a:lstStyle/>
          <a:p>
            <a:pPr marL="0" indent="0" algn="l">
              <a:buNone/>
            </a:pPr>
            <a:r>
              <a:rPr lang="en-US" sz="700" b="0" dirty="0">
                <a:solidFill>
                  <a:srgbClr val="172044"/>
                </a:solidFill>
                <a:latin typeface="Consolas"/>
                <a:cs typeface="Consolas"/>
              </a:rPr>
              <a:t>RECEIVED</a:t>
            </a:r>
          </a:p>
          <a:p>
            <a:pPr marL="0" indent="0" algn="l">
              <a:spcBef>
                <a:spcPts val="130"/>
              </a:spcBef>
              <a:buNone/>
            </a:pPr>
            <a:r>
              <a:rPr lang="en-US" sz="700" b="0" dirty="0">
                <a:solidFill>
                  <a:srgbClr val="172044"/>
                </a:solidFill>
                <a:latin typeface="Consolas"/>
                <a:cs typeface="Consolas"/>
              </a:rPr>
              <a:t>VALIDATING_REQUEST</a:t>
            </a:r>
          </a:p>
          <a:p>
            <a:pPr marL="0" indent="0" algn="l">
              <a:spcBef>
                <a:spcPts val="130"/>
              </a:spcBef>
              <a:buNone/>
            </a:pPr>
            <a:r>
              <a:rPr lang="en-US" sz="700" b="0" dirty="0">
                <a:solidFill>
                  <a:srgbClr val="172044"/>
                </a:solidFill>
                <a:latin typeface="Consolas"/>
                <a:cs typeface="Consolas"/>
              </a:rPr>
              <a:t>COLLECTING_CONTEXT</a:t>
            </a:r>
          </a:p>
          <a:p>
            <a:pPr marL="0" indent="0" algn="l">
              <a:spcBef>
                <a:spcPts val="130"/>
              </a:spcBef>
              <a:buNone/>
            </a:pPr>
            <a:r>
              <a:rPr lang="en-US" sz="700" b="0" dirty="0">
                <a:solidFill>
                  <a:srgbClr val="172044"/>
                </a:solidFill>
                <a:latin typeface="Consolas"/>
                <a:cs typeface="Consolas"/>
              </a:rPr>
              <a:t>NORMALIZING_EVIDENCE</a:t>
            </a:r>
          </a:p>
          <a:p>
            <a:pPr marL="0" indent="0" algn="l">
              <a:spcBef>
                <a:spcPts val="130"/>
              </a:spcBef>
              <a:buNone/>
            </a:pPr>
            <a:r>
              <a:rPr lang="en-US" sz="700" b="0" dirty="0">
                <a:solidFill>
                  <a:srgbClr val="172044"/>
                </a:solidFill>
                <a:latin typeface="Consolas"/>
                <a:cs typeface="Consolas"/>
              </a:rPr>
              <a:t>ANALYZING_READINESS</a:t>
            </a:r>
          </a:p>
          <a:p>
            <a:pPr marL="0" indent="0" algn="l">
              <a:spcBef>
                <a:spcPts val="130"/>
              </a:spcBef>
              <a:buNone/>
            </a:pPr>
            <a:r>
              <a:rPr lang="en-US" sz="700" b="0" dirty="0">
                <a:solidFill>
                  <a:srgbClr val="172044"/>
                </a:solidFill>
                <a:latin typeface="Consolas"/>
                <a:cs typeface="Consolas"/>
              </a:rPr>
              <a:t>DETECTING_CONFLICTS</a:t>
            </a:r>
          </a:p>
          <a:p>
            <a:pPr marL="0" indent="0" algn="l">
              <a:spcBef>
                <a:spcPts val="130"/>
              </a:spcBef>
              <a:buNone/>
            </a:pPr>
            <a:r>
              <a:rPr lang="en-US" sz="700" b="0" dirty="0">
                <a:solidFill>
                  <a:srgbClr val="172044"/>
                </a:solidFill>
                <a:latin typeface="Consolas"/>
                <a:cs typeface="Consolas"/>
              </a:rPr>
              <a:t>ANALYZING_DEPENDENCIES</a:t>
            </a:r>
          </a:p>
          <a:p>
            <a:pPr marL="0" indent="0" algn="l">
              <a:spcBef>
                <a:spcPts val="300"/>
              </a:spcBef>
              <a:buNone/>
            </a:pPr>
            <a:r>
              <a:rPr lang="en-US" sz="750" b="0" dirty="0">
                <a:solidFill>
                  <a:srgbClr val="5E6784"/>
                </a:solidFill>
              </a:rPr>
              <a:t>Sources are retrieved once, labelled fact or inference, and anything unreachable is recorded by name.</a:t>
            </a:r>
          </a:p>
        </p:txBody>
      </p:sp>
      <p:sp>
        <p:nvSpPr>
          <p:cNvPr id="490" name="d"/>
          <p:cNvSpPr/>
          <p:nvPr/>
        </p:nvSpPr>
        <p:spPr>
          <a:xfrm>
            <a:off x="3248844" y="1500000"/>
            <a:ext cx="2981916" cy="600000"/>
          </a:xfrm>
          <a:prstGeom prst="chevron">
            <a:avLst/>
          </a:prstGeom>
          <a:solidFill>
            <a:srgbClr val="35C7D8"/>
          </a:solidFill>
          <a:ln>
            <a:noFill/>
          </a:ln>
        </p:spPr>
        <p:txBody>
          <a:bodyPr lIns="320000" tIns="27432" rIns="140000" bIns="27432" anchor="ctr" wrap="square">
            <a:normAutofit/>
          </a:bodyPr>
          <a:lstStyle/>
          <a:p>
            <a:pPr marL="0" indent="0" algn="ctr">
              <a:buNone/>
            </a:pPr>
            <a:r>
              <a:rPr lang="en-US" sz="950" b="1" dirty="0">
                <a:solidFill>
                  <a:srgbClr val="FFFFFF"/>
                </a:solidFill>
              </a:rPr>
              <a:t>GENERATE &amp; TRACE</a:t>
            </a:r>
          </a:p>
          <a:p>
            <a:pPr marL="0" indent="0" algn="ctr">
              <a:spcBef>
                <a:spcPts val="60"/>
              </a:spcBef>
              <a:buNone/>
            </a:pPr>
            <a:r>
              <a:rPr lang="en-US" sz="700" b="0" dirty="0">
                <a:solidFill>
                  <a:srgbClr val="FFFFFF"/>
                </a:solidFill>
              </a:rPr>
              <a:t>stages 8–16</a:t>
            </a:r>
          </a:p>
        </p:txBody>
      </p:sp>
      <p:sp>
        <p:nvSpPr>
          <p:cNvPr id="491" name="d"/>
          <p:cNvSpPr/>
          <p:nvPr/>
        </p:nvSpPr>
        <p:spPr>
          <a:xfrm>
            <a:off x="3358134" y="2220000"/>
            <a:ext cx="2654046" cy="172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92" name="d"/>
          <p:cNvSpPr/>
          <p:nvPr/>
        </p:nvSpPr>
        <p:spPr>
          <a:xfrm>
            <a:off x="3358134" y="2220000"/>
            <a:ext cx="73152" cy="1720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493" name="d"/>
          <p:cNvSpPr/>
          <p:nvPr/>
        </p:nvSpPr>
        <p:spPr>
          <a:xfrm>
            <a:off x="3528134" y="2340000"/>
            <a:ext cx="2354046" cy="1480000"/>
          </a:xfrm>
          <a:prstGeom prst="rect">
            <a:avLst/>
          </a:prstGeom>
          <a:noFill/>
          <a:ln>
            <a:noFill/>
          </a:ln>
        </p:spPr>
        <p:txBody>
          <a:bodyPr lIns="0" tIns="0" rIns="0" bIns="0" anchor="t" wrap="square">
            <a:normAutofit/>
          </a:bodyPr>
          <a:lstStyle/>
          <a:p>
            <a:pPr marL="0" indent="0" algn="l">
              <a:buNone/>
            </a:pPr>
            <a:r>
              <a:rPr lang="en-US" sz="700" b="0" dirty="0">
                <a:solidFill>
                  <a:srgbClr val="172044"/>
                </a:solidFill>
                <a:latin typeface="Consolas"/>
                <a:cs typeface="Consolas"/>
              </a:rPr>
              <a:t>GENERATING_STORIES</a:t>
            </a:r>
          </a:p>
          <a:p>
            <a:pPr marL="0" indent="0" algn="l">
              <a:spcBef>
                <a:spcPts val="130"/>
              </a:spcBef>
              <a:buNone/>
            </a:pPr>
            <a:r>
              <a:rPr lang="en-US" sz="700" b="0" dirty="0">
                <a:solidFill>
                  <a:srgbClr val="172044"/>
                </a:solidFill>
                <a:latin typeface="Consolas"/>
                <a:cs typeface="Consolas"/>
              </a:rPr>
              <a:t>GENERATING_TEST_CASES *</a:t>
            </a:r>
          </a:p>
          <a:p>
            <a:pPr marL="0" indent="0" algn="l">
              <a:spcBef>
                <a:spcPts val="130"/>
              </a:spcBef>
              <a:buNone/>
            </a:pPr>
            <a:r>
              <a:rPr lang="en-US" sz="700" b="0" dirty="0">
                <a:solidFill>
                  <a:srgbClr val="172044"/>
                </a:solidFill>
                <a:latin typeface="Consolas"/>
                <a:cs typeface="Consolas"/>
              </a:rPr>
              <a:t>RECOMMENDING_AUTOMATION</a:t>
            </a:r>
          </a:p>
          <a:p>
            <a:pPr marL="0" indent="0" algn="l">
              <a:spcBef>
                <a:spcPts val="130"/>
              </a:spcBef>
              <a:buNone/>
            </a:pPr>
            <a:r>
              <a:rPr lang="en-US" sz="700" b="0" dirty="0">
                <a:solidFill>
                  <a:srgbClr val="172044"/>
                </a:solidFill>
                <a:latin typeface="Consolas"/>
                <a:cs typeface="Consolas"/>
              </a:rPr>
              <a:t>BUILDING_COVERAGE_MATRIX</a:t>
            </a:r>
          </a:p>
          <a:p>
            <a:pPr marL="0" indent="0" algn="l">
              <a:spcBef>
                <a:spcPts val="130"/>
              </a:spcBef>
              <a:buNone/>
            </a:pPr>
            <a:r>
              <a:rPr lang="en-US" sz="700" b="0" dirty="0">
                <a:solidFill>
                  <a:srgbClr val="172044"/>
                </a:solidFill>
                <a:latin typeface="Consolas"/>
                <a:cs typeface="Consolas"/>
              </a:rPr>
              <a:t>RECOMMENDING_OWNERSHIP</a:t>
            </a:r>
          </a:p>
          <a:p>
            <a:pPr marL="0" indent="0" algn="l">
              <a:spcBef>
                <a:spcPts val="130"/>
              </a:spcBef>
              <a:buNone/>
            </a:pPr>
            <a:r>
              <a:rPr lang="en-US" sz="700" b="0" dirty="0">
                <a:solidFill>
                  <a:srgbClr val="172044"/>
                </a:solidFill>
                <a:latin typeface="Consolas"/>
                <a:cs typeface="Consolas"/>
              </a:rPr>
              <a:t>RECOMMENDING_REPOS *</a:t>
            </a:r>
          </a:p>
          <a:p>
            <a:pPr marL="0" indent="0" algn="l">
              <a:spcBef>
                <a:spcPts val="130"/>
              </a:spcBef>
              <a:buNone/>
            </a:pPr>
            <a:r>
              <a:rPr lang="en-US" sz="700" b="0" dirty="0">
                <a:solidFill>
                  <a:srgbClr val="172044"/>
                </a:solidFill>
                <a:latin typeface="Consolas"/>
                <a:cs typeface="Consolas"/>
              </a:rPr>
              <a:t>RECOMMENDING_ESTIMATES</a:t>
            </a:r>
          </a:p>
          <a:p>
            <a:pPr marL="0" indent="0" algn="l">
              <a:spcBef>
                <a:spcPts val="130"/>
              </a:spcBef>
              <a:buNone/>
            </a:pPr>
            <a:r>
              <a:rPr lang="en-US" sz="700" b="0" dirty="0">
                <a:solidFill>
                  <a:srgbClr val="172044"/>
                </a:solidFill>
                <a:latin typeface="Consolas"/>
                <a:cs typeface="Consolas"/>
              </a:rPr>
              <a:t>ASSESSING_RISK</a:t>
            </a:r>
          </a:p>
          <a:p>
            <a:pPr marL="0" indent="0" algn="l">
              <a:spcBef>
                <a:spcPts val="130"/>
              </a:spcBef>
              <a:buNone/>
            </a:pPr>
            <a:r>
              <a:rPr lang="en-US" sz="700" b="0" dirty="0">
                <a:solidFill>
                  <a:srgbClr val="172044"/>
                </a:solidFill>
                <a:latin typeface="Consolas"/>
                <a:cs typeface="Consolas"/>
              </a:rPr>
              <a:t>PREPARING_PREVIEW</a:t>
            </a:r>
          </a:p>
          <a:p>
            <a:pPr marL="0" indent="0" algn="l">
              <a:spcBef>
                <a:spcPts val="300"/>
              </a:spcBef>
              <a:buNone/>
            </a:pPr>
            <a:r>
              <a:rPr lang="en-US" sz="750" b="0" dirty="0">
                <a:solidFill>
                  <a:srgbClr val="5E6784"/>
                </a:solidFill>
              </a:rPr>
              <a:t>* optional — skipped with a recorded reason, never silently absent.</a:t>
            </a:r>
          </a:p>
        </p:txBody>
      </p:sp>
      <p:sp>
        <p:nvSpPr>
          <p:cNvPr id="494" name="d"/>
          <p:cNvSpPr/>
          <p:nvPr/>
        </p:nvSpPr>
        <p:spPr>
          <a:xfrm>
            <a:off x="5930760" y="1500000"/>
            <a:ext cx="2981916" cy="600000"/>
          </a:xfrm>
          <a:prstGeom prst="chevron">
            <a:avLst/>
          </a:prstGeom>
          <a:solidFill>
            <a:srgbClr val="FFC83D"/>
          </a:solidFill>
          <a:ln>
            <a:noFill/>
          </a:ln>
        </p:spPr>
        <p:txBody>
          <a:bodyPr lIns="320000" tIns="27432" rIns="140000" bIns="27432" anchor="ctr" wrap="square">
            <a:normAutofit/>
          </a:bodyPr>
          <a:lstStyle/>
          <a:p>
            <a:pPr marL="0" indent="0" algn="ctr">
              <a:buNone/>
            </a:pPr>
            <a:r>
              <a:rPr lang="en-US" sz="950" b="1" dirty="0">
                <a:solidFill>
                  <a:srgbClr val="08124F"/>
                </a:solidFill>
              </a:rPr>
              <a:t>HUMAN APPROVAL</a:t>
            </a:r>
          </a:p>
          <a:p>
            <a:pPr marL="0" indent="0" algn="ctr">
              <a:spcBef>
                <a:spcPts val="60"/>
              </a:spcBef>
              <a:buNone/>
            </a:pPr>
            <a:r>
              <a:rPr lang="en-US" sz="700" b="0" dirty="0">
                <a:solidFill>
                  <a:srgbClr val="08124F"/>
                </a:solidFill>
              </a:rPr>
              <a:t>stage 17</a:t>
            </a:r>
          </a:p>
        </p:txBody>
      </p:sp>
      <p:sp>
        <p:nvSpPr>
          <p:cNvPr id="495" name="d"/>
          <p:cNvSpPr/>
          <p:nvPr/>
        </p:nvSpPr>
        <p:spPr>
          <a:xfrm>
            <a:off x="6149340" y="2220000"/>
            <a:ext cx="2654046" cy="172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496" name="d"/>
          <p:cNvSpPr/>
          <p:nvPr/>
        </p:nvSpPr>
        <p:spPr>
          <a:xfrm>
            <a:off x="6149340" y="2220000"/>
            <a:ext cx="73152" cy="1720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497" name="d"/>
          <p:cNvSpPr/>
          <p:nvPr/>
        </p:nvSpPr>
        <p:spPr>
          <a:xfrm>
            <a:off x="6319340" y="2340000"/>
            <a:ext cx="2354046" cy="1480000"/>
          </a:xfrm>
          <a:prstGeom prst="rect">
            <a:avLst/>
          </a:prstGeom>
          <a:noFill/>
          <a:ln>
            <a:noFill/>
          </a:ln>
        </p:spPr>
        <p:txBody>
          <a:bodyPr lIns="0" tIns="0" rIns="0" bIns="0" anchor="t" wrap="square">
            <a:normAutofit/>
          </a:bodyPr>
          <a:lstStyle/>
          <a:p>
            <a:pPr marL="0" indent="0" algn="l">
              <a:buNone/>
            </a:pPr>
            <a:r>
              <a:rPr lang="en-US" sz="700" b="1" dirty="0">
                <a:solidFill>
                  <a:srgbClr val="B45309"/>
                </a:solidFill>
                <a:latin typeface="Consolas"/>
                <a:cs typeface="Consolas"/>
              </a:rPr>
              <a:t>AWAITING_APPROVAL</a:t>
            </a:r>
          </a:p>
          <a:p>
            <a:pPr marL="144000" indent="-144000" algn="l">
              <a:spcBef>
                <a:spcPts val="300"/>
              </a:spcBef>
              <a:buFont typeface="Arial"/>
              <a:buChar char="•"/>
            </a:pPr>
            <a:r>
              <a:rPr lang="en-US" sz="750" b="0" dirty="0">
                <a:solidFill>
                  <a:srgbClr val="5E6784"/>
                </a:solidFill>
              </a:rPr>
              <a:t>The run stops here. Nothing has been written.</a:t>
            </a:r>
          </a:p>
          <a:p>
            <a:pPr marL="144000" indent="-144000" algn="l">
              <a:spcBef>
                <a:spcPts val="160"/>
              </a:spcBef>
              <a:buFont typeface="Arial"/>
              <a:buChar char="•"/>
            </a:pPr>
            <a:r>
              <a:rPr lang="en-US" sz="750" b="0" dirty="0">
                <a:solidFill>
                  <a:srgbClr val="5E6784"/>
                </a:solidFill>
              </a:rPr>
              <a:t>State is persisted, so it resumes hours later in a new session — and re-reads nothing.</a:t>
            </a:r>
          </a:p>
          <a:p>
            <a:pPr marL="144000" indent="-144000" algn="l">
              <a:spcBef>
                <a:spcPts val="160"/>
              </a:spcBef>
              <a:buFont typeface="Arial"/>
              <a:buChar char="•"/>
            </a:pPr>
            <a:r>
              <a:rPr lang="en-US" sz="750" b="0" dirty="0">
                <a:solidFill>
                  <a:srgbClr val="5E6784"/>
                </a:solidFill>
              </a:rPr>
              <a:t>A source-drift fingerprint guarantees what gets created is exactly what was previewed.</a:t>
            </a:r>
          </a:p>
        </p:txBody>
      </p:sp>
      <p:sp>
        <p:nvSpPr>
          <p:cNvPr id="498" name="d"/>
          <p:cNvSpPr/>
          <p:nvPr/>
        </p:nvSpPr>
        <p:spPr>
          <a:xfrm>
            <a:off x="8612676" y="1500000"/>
            <a:ext cx="2981916" cy="600000"/>
          </a:xfrm>
          <a:prstGeom prst="chevron">
            <a:avLst/>
          </a:prstGeom>
          <a:solidFill>
            <a:srgbClr val="38B27B"/>
          </a:solidFill>
          <a:ln>
            <a:noFill/>
          </a:ln>
        </p:spPr>
        <p:txBody>
          <a:bodyPr lIns="320000" tIns="27432" rIns="140000" bIns="27432" anchor="ctr" wrap="square">
            <a:normAutofit/>
          </a:bodyPr>
          <a:lstStyle/>
          <a:p>
            <a:pPr marL="0" indent="0" algn="ctr">
              <a:buNone/>
            </a:pPr>
            <a:r>
              <a:rPr lang="en-US" sz="950" b="1" dirty="0">
                <a:solidFill>
                  <a:srgbClr val="FFFFFF"/>
                </a:solidFill>
              </a:rPr>
              <a:t>EXECUTE &amp; VALIDATE</a:t>
            </a:r>
          </a:p>
          <a:p>
            <a:pPr marL="0" indent="0" algn="ctr">
              <a:spcBef>
                <a:spcPts val="60"/>
              </a:spcBef>
              <a:buNone/>
            </a:pPr>
            <a:r>
              <a:rPr lang="en-US" sz="700" b="0" dirty="0">
                <a:solidFill>
                  <a:srgbClr val="FFFFFF"/>
                </a:solidFill>
              </a:rPr>
              <a:t>stages 18–22</a:t>
            </a:r>
          </a:p>
        </p:txBody>
      </p:sp>
      <p:sp>
        <p:nvSpPr>
          <p:cNvPr id="499" name="d"/>
          <p:cNvSpPr/>
          <p:nvPr/>
        </p:nvSpPr>
        <p:spPr>
          <a:xfrm>
            <a:off x="8940546" y="2220000"/>
            <a:ext cx="2654046" cy="172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00" name="d"/>
          <p:cNvSpPr/>
          <p:nvPr/>
        </p:nvSpPr>
        <p:spPr>
          <a:xfrm>
            <a:off x="8940546" y="2220000"/>
            <a:ext cx="73152" cy="1720000"/>
          </a:xfrm>
          <a:prstGeom prst="rect">
            <a:avLst/>
          </a:prstGeom>
          <a:solidFill>
            <a:srgbClr val="38B27B"/>
          </a:solidFill>
          <a:ln>
            <a:noFill/>
          </a:ln>
        </p:spPr>
        <p:txBody>
          <a:bodyPr lIns="82296" tIns="36576" rIns="82296" bIns="36576" anchor="ctr" wrap="square">
            <a:normAutofit/>
          </a:bodyPr>
          <a:lstStyle/>
          <a:p>
            <a:pPr algn="l"/>
            <a:endParaRPr lang="en-US"/>
          </a:p>
        </p:txBody>
      </p:sp>
      <p:sp>
        <p:nvSpPr>
          <p:cNvPr id="501" name="d"/>
          <p:cNvSpPr/>
          <p:nvPr/>
        </p:nvSpPr>
        <p:spPr>
          <a:xfrm>
            <a:off x="9110546" y="2340000"/>
            <a:ext cx="2354046" cy="1480000"/>
          </a:xfrm>
          <a:prstGeom prst="rect">
            <a:avLst/>
          </a:prstGeom>
          <a:noFill/>
          <a:ln>
            <a:noFill/>
          </a:ln>
        </p:spPr>
        <p:txBody>
          <a:bodyPr lIns="0" tIns="0" rIns="0" bIns="0" anchor="t" wrap="square">
            <a:normAutofit/>
          </a:bodyPr>
          <a:lstStyle/>
          <a:p>
            <a:pPr marL="0" indent="0" algn="l">
              <a:buNone/>
            </a:pPr>
            <a:r>
              <a:rPr lang="en-US" sz="700" b="0" dirty="0">
                <a:solidFill>
                  <a:srgbClr val="172044"/>
                </a:solidFill>
                <a:latin typeface="Consolas"/>
                <a:cs typeface="Consolas"/>
              </a:rPr>
              <a:t>EXECUTING_APPROVED_CHANGES</a:t>
            </a:r>
          </a:p>
          <a:p>
            <a:pPr marL="0" indent="0" algn="l">
              <a:spcBef>
                <a:spcPts val="130"/>
              </a:spcBef>
              <a:buNone/>
            </a:pPr>
            <a:r>
              <a:rPr lang="en-US" sz="700" b="0" dirty="0">
                <a:solidFill>
                  <a:srgbClr val="172044"/>
                </a:solidFill>
                <a:latin typeface="Consolas"/>
                <a:cs typeface="Consolas"/>
              </a:rPr>
              <a:t>VALIDATING_READINESS</a:t>
            </a:r>
          </a:p>
          <a:p>
            <a:pPr marL="0" indent="0" algn="l">
              <a:spcBef>
                <a:spcPts val="130"/>
              </a:spcBef>
              <a:buNone/>
            </a:pPr>
            <a:r>
              <a:rPr lang="en-US" sz="700" b="0" dirty="0">
                <a:solidFill>
                  <a:srgbClr val="172044"/>
                </a:solidFill>
                <a:latin typeface="Consolas"/>
                <a:cs typeface="Consolas"/>
              </a:rPr>
              <a:t>CALCULATING_CONFIDENCE</a:t>
            </a:r>
          </a:p>
          <a:p>
            <a:pPr marL="0" indent="0" algn="l">
              <a:spcBef>
                <a:spcPts val="130"/>
              </a:spcBef>
              <a:buNone/>
            </a:pPr>
            <a:r>
              <a:rPr lang="en-US" sz="700" b="0" dirty="0">
                <a:solidFill>
                  <a:srgbClr val="172044"/>
                </a:solidFill>
                <a:latin typeface="Consolas"/>
                <a:cs typeface="Consolas"/>
              </a:rPr>
              <a:t>GENERATING_FINAL_SUMMARY</a:t>
            </a:r>
          </a:p>
          <a:p>
            <a:pPr marL="0" indent="0" algn="l">
              <a:spcBef>
                <a:spcPts val="130"/>
              </a:spcBef>
              <a:buNone/>
            </a:pPr>
            <a:r>
              <a:rPr lang="en-US" sz="700" b="0" dirty="0">
                <a:solidFill>
                  <a:srgbClr val="172044"/>
                </a:solidFill>
                <a:latin typeface="Consolas"/>
                <a:cs typeface="Consolas"/>
              </a:rPr>
              <a:t>COMPLETED</a:t>
            </a:r>
          </a:p>
          <a:p>
            <a:pPr marL="0" indent="0" algn="l">
              <a:spcBef>
                <a:spcPts val="300"/>
              </a:spcBef>
              <a:buNone/>
            </a:pPr>
            <a:r>
              <a:rPr lang="en-US" sz="750" b="0" dirty="0">
                <a:solidFill>
                  <a:srgbClr val="5E6784"/>
                </a:solidFill>
              </a:rPr>
              <a:t>Only the approved items are written, and a failure keeps the work already done rather than restarting the run.</a:t>
            </a:r>
          </a:p>
        </p:txBody>
      </p:sp>
      <p:sp>
        <p:nvSpPr>
          <p:cNvPr id="502" name="d"/>
          <p:cNvSpPr/>
          <p:nvPr/>
        </p:nvSpPr>
        <p:spPr>
          <a:xfrm>
            <a:off x="566928" y="4080000"/>
            <a:ext cx="11027664" cy="1000000"/>
          </a:xfrm>
          <a:prstGeom prst="roundRect">
            <a:avLst>
              <a:gd name="adj" fmla="val 7000"/>
            </a:avLst>
          </a:prstGeom>
          <a:solidFill>
            <a:srgbClr val="08124F"/>
          </a:solidFill>
          <a:ln>
            <a:noFill/>
          </a:ln>
        </p:spPr>
        <p:txBody>
          <a:bodyPr lIns="82296" tIns="36576" rIns="82296" bIns="36576" anchor="ctr" wrap="square">
            <a:normAutofit/>
          </a:bodyPr>
          <a:lstStyle/>
          <a:p>
            <a:pPr algn="l"/>
            <a:endParaRPr lang="en-US"/>
          </a:p>
        </p:txBody>
      </p:sp>
      <p:sp>
        <p:nvSpPr>
          <p:cNvPr id="503" name="d"/>
          <p:cNvSpPr/>
          <p:nvPr/>
        </p:nvSpPr>
        <p:spPr>
          <a:xfrm>
            <a:off x="746928" y="4280000"/>
            <a:ext cx="2500000" cy="600000"/>
          </a:xfrm>
          <a:prstGeom prst="roundRect">
            <a:avLst>
              <a:gd name="adj" fmla="val 12000"/>
            </a:avLst>
          </a:prstGeom>
          <a:solidFill>
            <a:srgbClr val="FFC83D"/>
          </a:solidFill>
          <a:ln>
            <a:noFill/>
          </a:ln>
        </p:spPr>
        <p:txBody>
          <a:bodyPr lIns="82296" tIns="36576" rIns="82296" bIns="36576" anchor="ctr" wrap="square">
            <a:normAutofit/>
          </a:bodyPr>
          <a:lstStyle/>
          <a:p>
            <a:pPr marL="0" indent="0" algn="ctr">
              <a:buNone/>
            </a:pPr>
            <a:r>
              <a:rPr lang="en-US" sz="700" b="1" dirty="0">
                <a:solidFill>
                  <a:srgbClr val="08124F"/>
                </a:solidFill>
              </a:rPr>
              <a:t>STAGE 17</a:t>
            </a:r>
          </a:p>
          <a:p>
            <a:pPr marL="0" indent="0" algn="ctr">
              <a:spcBef>
                <a:spcPts val="40"/>
              </a:spcBef>
              <a:buNone/>
            </a:pPr>
            <a:r>
              <a:rPr lang="en-US" sz="850" b="1" dirty="0">
                <a:solidFill>
                  <a:srgbClr val="08124F"/>
                </a:solidFill>
                <a:latin typeface="Consolas"/>
                <a:cs typeface="Consolas"/>
              </a:rPr>
              <a:t>AWAITING_APPROVAL</a:t>
            </a:r>
          </a:p>
        </p:txBody>
      </p:sp>
      <p:cxnSp>
        <p:nvCxnSpPr>
          <p:cNvPr id="504" name="a"/>
          <p:cNvCxnSpPr/>
          <p:nvPr/>
        </p:nvCxnSpPr>
        <p:spPr>
          <a:xfrm flipV="1">
            <a:off x="3326928" y="4410000"/>
            <a:ext cx="480000" cy="170000"/>
          </a:xfrm>
          <a:prstGeom prst="straightConnector1">
            <a:avLst/>
          </a:prstGeom>
          <a:ln w="25400">
            <a:solidFill>
              <a:srgbClr val="A9BFFF"/>
            </a:solidFill>
            <a:tailEnd type="triangle"/>
          </a:ln>
        </p:spPr>
      </p:cxnSp>
      <p:cxnSp>
        <p:nvCxnSpPr>
          <p:cNvPr id="505" name="a"/>
          <p:cNvCxnSpPr/>
          <p:nvPr/>
        </p:nvCxnSpPr>
        <p:spPr>
          <a:xfrm>
            <a:off x="3326928" y="4580000"/>
            <a:ext cx="480000" cy="260000"/>
          </a:xfrm>
          <a:prstGeom prst="straightConnector1">
            <a:avLst/>
          </a:prstGeom>
          <a:ln w="25400">
            <a:solidFill>
              <a:srgbClr val="A9BFFF"/>
            </a:solidFill>
            <a:tailEnd type="triangle"/>
          </a:ln>
        </p:spPr>
      </p:cxnSp>
      <p:sp>
        <p:nvSpPr>
          <p:cNvPr id="506" name="d"/>
          <p:cNvSpPr/>
          <p:nvPr/>
        </p:nvSpPr>
        <p:spPr>
          <a:xfrm>
            <a:off x="3886928" y="4230000"/>
            <a:ext cx="3600000" cy="360000"/>
          </a:xfrm>
          <a:prstGeom prst="roundRect">
            <a:avLst>
              <a:gd name="adj" fmla="val 22000"/>
            </a:avLst>
          </a:prstGeom>
          <a:solidFill>
            <a:srgbClr val="38B27B"/>
          </a:solidFill>
          <a:ln>
            <a:noFill/>
          </a:ln>
        </p:spPr>
        <p:txBody>
          <a:bodyPr lIns="82296" tIns="36576" rIns="82296" bIns="36576" anchor="ctr" wrap="square">
            <a:normAutofit/>
          </a:bodyPr>
          <a:lstStyle/>
          <a:p>
            <a:pPr marL="0" indent="0" algn="ctr">
              <a:buNone/>
            </a:pPr>
            <a:r>
              <a:rPr lang="en-US" sz="780" b="1" dirty="0">
                <a:solidFill>
                  <a:srgbClr val="FFFFFF"/>
                </a:solidFill>
              </a:rPr>
              <a:t>APPROVED → only the approved items are written</a:t>
            </a:r>
          </a:p>
        </p:txBody>
      </p:sp>
      <p:sp>
        <p:nvSpPr>
          <p:cNvPr id="507" name="d"/>
          <p:cNvSpPr/>
          <p:nvPr/>
        </p:nvSpPr>
        <p:spPr>
          <a:xfrm>
            <a:off x="3886928" y="4660000"/>
            <a:ext cx="3600000" cy="360000"/>
          </a:xfrm>
          <a:prstGeom prst="roundRect">
            <a:avLst>
              <a:gd name="adj" fmla="val 22000"/>
            </a:avLst>
          </a:prstGeom>
          <a:solidFill>
            <a:srgbClr val="24306F"/>
          </a:solidFill>
          <a:ln>
            <a:noFill/>
          </a:ln>
        </p:spPr>
        <p:txBody>
          <a:bodyPr lIns="82296" tIns="36576" rIns="82296" bIns="36576" anchor="ctr" wrap="square">
            <a:normAutofit/>
          </a:bodyPr>
          <a:lstStyle/>
          <a:p>
            <a:pPr marL="0" indent="0" algn="ctr">
              <a:buNone/>
            </a:pPr>
            <a:r>
              <a:rPr lang="en-US" sz="780" b="0" dirty="0">
                <a:solidFill>
                  <a:srgbClr val="E5E9F7"/>
                </a:solidFill>
              </a:rPr>
              <a:t>NOT APPROVED → nothing is written, the state is kept</a:t>
            </a:r>
          </a:p>
        </p:txBody>
      </p:sp>
      <p:sp>
        <p:nvSpPr>
          <p:cNvPr id="508" name="d"/>
          <p:cNvSpPr/>
          <p:nvPr/>
        </p:nvSpPr>
        <p:spPr>
          <a:xfrm>
            <a:off x="7686928" y="4310000"/>
            <a:ext cx="3727664" cy="540000"/>
          </a:xfrm>
          <a:prstGeom prst="rect">
            <a:avLst/>
          </a:prstGeom>
          <a:noFill/>
          <a:ln>
            <a:noFill/>
          </a:ln>
        </p:spPr>
        <p:txBody>
          <a:bodyPr lIns="0" tIns="0" rIns="0" bIns="0" anchor="ctr" wrap="square">
            <a:normAutofit/>
          </a:bodyPr>
          <a:lstStyle/>
          <a:p>
            <a:pPr marL="0" indent="0" algn="l">
              <a:buNone/>
            </a:pPr>
            <a:r>
              <a:rPr lang="en-US" sz="800" b="1" dirty="0">
                <a:solidFill>
                  <a:srgbClr val="FFFFFF"/>
                </a:solidFill>
              </a:rPr>
              <a:t>3 write operations exist in the entire codebase</a:t>
            </a:r>
          </a:p>
          <a:p>
            <a:pPr marL="0" indent="0" algn="l">
              <a:spcBef>
                <a:spcPts val="90"/>
              </a:spcBef>
              <a:buNone/>
            </a:pPr>
            <a:r>
              <a:rPr lang="en-US" sz="740" b="0" dirty="0">
                <a:solidFill>
                  <a:srgbClr val="A9BFFF"/>
                </a:solidFill>
                <a:latin typeface="Consolas"/>
                <a:cs typeface="Consolas"/>
              </a:rPr>
              <a:t>create_issue  ·  link_to_epic  ·  add_comment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03 / DEMO</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A Worked Example: One Epic, End to End</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The offline fixture run — reproducible on any laptop with npm run refineai:demo, with no credentials and no network.</a:t>
            </a:r>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REPRODUCIBLE</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Same epic, same answer, every run — because the verdict is computed by tested code, not generated by a model.</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
        <p:nvSpPr>
          <p:cNvPr id="509" name="d"/>
          <p:cNvSpPr/>
          <p:nvPr/>
        </p:nvSpPr>
        <p:spPr>
          <a:xfrm>
            <a:off x="566928" y="1500000"/>
            <a:ext cx="5100000" cy="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10" name="d"/>
          <p:cNvSpPr/>
          <p:nvPr/>
        </p:nvSpPr>
        <p:spPr>
          <a:xfrm>
            <a:off x="566928" y="1500000"/>
            <a:ext cx="73152" cy="70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511" name="d"/>
          <p:cNvSpPr/>
          <p:nvPr/>
        </p:nvSpPr>
        <p:spPr>
          <a:xfrm>
            <a:off x="756928" y="1590000"/>
            <a:ext cx="4780000" cy="520000"/>
          </a:xfrm>
          <a:prstGeom prst="rect">
            <a:avLst/>
          </a:prstGeom>
          <a:noFill/>
          <a:ln>
            <a:noFill/>
          </a:ln>
        </p:spPr>
        <p:txBody>
          <a:bodyPr lIns="0" tIns="0" rIns="0" bIns="0" anchor="ctr" wrap="square">
            <a:normAutofit/>
          </a:bodyPr>
          <a:lstStyle/>
          <a:p>
            <a:pPr marL="0" indent="0" algn="l">
              <a:buNone/>
            </a:pPr>
            <a:r>
              <a:rPr lang="en-US" sz="850" b="1" dirty="0">
                <a:solidFill>
                  <a:srgbClr val="2E6AF6"/>
                </a:solidFill>
              </a:rPr>
              <a:t>1  </a:t>
            </a:r>
            <a:r>
              <a:rPr lang="en-US" sz="850" b="1" dirty="0">
                <a:solidFill>
                  <a:srgbClr val="08124F"/>
                </a:solidFill>
              </a:rPr>
              <a:t>THE ASK</a:t>
            </a:r>
          </a:p>
          <a:p>
            <a:pPr marL="0" indent="0" algn="l">
              <a:spcBef>
                <a:spcPts val="90"/>
              </a:spcBef>
              <a:buNone/>
            </a:pPr>
            <a:r>
              <a:rPr lang="en-US" sz="780" b="0" dirty="0">
                <a:solidFill>
                  <a:srgbClr val="5E6784"/>
                </a:solidFill>
              </a:rPr>
              <a:t>“Is RBOC-200683 refined enough to work on? If not, generate the stories.” One prompt, inside VS Code.</a:t>
            </a:r>
          </a:p>
        </p:txBody>
      </p:sp>
      <p:sp>
        <p:nvSpPr>
          <p:cNvPr id="512" name="d"/>
          <p:cNvSpPr/>
          <p:nvPr/>
        </p:nvSpPr>
        <p:spPr>
          <a:xfrm>
            <a:off x="566928" y="2240000"/>
            <a:ext cx="5100000" cy="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13" name="d"/>
          <p:cNvSpPr/>
          <p:nvPr/>
        </p:nvSpPr>
        <p:spPr>
          <a:xfrm>
            <a:off x="566928" y="2240000"/>
            <a:ext cx="73152" cy="70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514" name="d"/>
          <p:cNvSpPr/>
          <p:nvPr/>
        </p:nvSpPr>
        <p:spPr>
          <a:xfrm>
            <a:off x="756928" y="2330000"/>
            <a:ext cx="4780000" cy="520000"/>
          </a:xfrm>
          <a:prstGeom prst="rect">
            <a:avLst/>
          </a:prstGeom>
          <a:noFill/>
          <a:ln>
            <a:noFill/>
          </a:ln>
        </p:spPr>
        <p:txBody>
          <a:bodyPr lIns="0" tIns="0" rIns="0" bIns="0" anchor="ctr" wrap="square">
            <a:normAutofit/>
          </a:bodyPr>
          <a:lstStyle/>
          <a:p>
            <a:pPr marL="0" indent="0" algn="l">
              <a:buNone/>
            </a:pPr>
            <a:r>
              <a:rPr lang="en-US" sz="850" b="1" dirty="0">
                <a:solidFill>
                  <a:srgbClr val="2E6AF6"/>
                </a:solidFill>
              </a:rPr>
              <a:t>2  </a:t>
            </a:r>
            <a:r>
              <a:rPr lang="en-US" sz="850" b="1" dirty="0">
                <a:solidFill>
                  <a:srgbClr val="08124F"/>
                </a:solidFill>
              </a:rPr>
              <a:t>WHAT IT READ</a:t>
            </a:r>
          </a:p>
          <a:p>
            <a:pPr marL="0" indent="0" algn="l">
              <a:spcBef>
                <a:spcPts val="90"/>
              </a:spcBef>
              <a:buNone/>
            </a:pPr>
            <a:r>
              <a:rPr lang="en-US" sz="780" b="0" dirty="0">
                <a:solidFill>
                  <a:srgbClr val="5E6784"/>
                </a:solidFill>
              </a:rPr>
              <a:t>The Jira epic, its Confluence requirement page, a Teams refinement transcript, the linked Figma frames and the candidate repositories — retrieved once.</a:t>
            </a:r>
          </a:p>
        </p:txBody>
      </p:sp>
      <p:sp>
        <p:nvSpPr>
          <p:cNvPr id="515" name="d"/>
          <p:cNvSpPr/>
          <p:nvPr/>
        </p:nvSpPr>
        <p:spPr>
          <a:xfrm>
            <a:off x="566928" y="2980000"/>
            <a:ext cx="5100000" cy="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16" name="d"/>
          <p:cNvSpPr/>
          <p:nvPr/>
        </p:nvSpPr>
        <p:spPr>
          <a:xfrm>
            <a:off x="566928" y="2980000"/>
            <a:ext cx="73152" cy="700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517" name="d"/>
          <p:cNvSpPr/>
          <p:nvPr/>
        </p:nvSpPr>
        <p:spPr>
          <a:xfrm>
            <a:off x="756928" y="3070000"/>
            <a:ext cx="4780000" cy="520000"/>
          </a:xfrm>
          <a:prstGeom prst="rect">
            <a:avLst/>
          </a:prstGeom>
          <a:noFill/>
          <a:ln>
            <a:noFill/>
          </a:ln>
        </p:spPr>
        <p:txBody>
          <a:bodyPr lIns="0" tIns="0" rIns="0" bIns="0" anchor="ctr" wrap="square">
            <a:normAutofit/>
          </a:bodyPr>
          <a:lstStyle/>
          <a:p>
            <a:pPr marL="0" indent="0" algn="l">
              <a:buNone/>
            </a:pPr>
            <a:r>
              <a:rPr lang="en-US" sz="850" b="1" dirty="0">
                <a:solidFill>
                  <a:srgbClr val="FFC83D"/>
                </a:solidFill>
              </a:rPr>
              <a:t>3  </a:t>
            </a:r>
            <a:r>
              <a:rPr lang="en-US" sz="850" b="1" dirty="0">
                <a:solidFill>
                  <a:srgbClr val="08124F"/>
                </a:solidFill>
              </a:rPr>
              <a:t>WHAT IT FOUND</a:t>
            </a:r>
          </a:p>
          <a:p>
            <a:pPr marL="0" indent="0" algn="l">
              <a:spcBef>
                <a:spcPts val="90"/>
              </a:spcBef>
              <a:buNone/>
            </a:pPr>
            <a:r>
              <a:rPr lang="en-US" sz="780" b="0" dirty="0">
                <a:solidFill>
                  <a:srgbClr val="5E6784"/>
                </a:solidFill>
              </a:rPr>
              <a:t>A blocking Definition of Ready failure, a requirement conflict with both sources named, one source it could not read, one injection attempt.</a:t>
            </a:r>
          </a:p>
        </p:txBody>
      </p:sp>
      <p:sp>
        <p:nvSpPr>
          <p:cNvPr id="518" name="d"/>
          <p:cNvSpPr/>
          <p:nvPr/>
        </p:nvSpPr>
        <p:spPr>
          <a:xfrm>
            <a:off x="566928" y="3720000"/>
            <a:ext cx="5100000" cy="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19" name="d"/>
          <p:cNvSpPr/>
          <p:nvPr/>
        </p:nvSpPr>
        <p:spPr>
          <a:xfrm>
            <a:off x="566928" y="3720000"/>
            <a:ext cx="73152" cy="700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520" name="d"/>
          <p:cNvSpPr/>
          <p:nvPr/>
        </p:nvSpPr>
        <p:spPr>
          <a:xfrm>
            <a:off x="756928" y="3810000"/>
            <a:ext cx="4780000" cy="520000"/>
          </a:xfrm>
          <a:prstGeom prst="rect">
            <a:avLst/>
          </a:prstGeom>
          <a:noFill/>
          <a:ln>
            <a:noFill/>
          </a:ln>
        </p:spPr>
        <p:txBody>
          <a:bodyPr lIns="0" tIns="0" rIns="0" bIns="0" anchor="ctr" wrap="square">
            <a:normAutofit/>
          </a:bodyPr>
          <a:lstStyle/>
          <a:p>
            <a:pPr marL="0" indent="0" algn="l">
              <a:buNone/>
            </a:pPr>
            <a:r>
              <a:rPr lang="en-US" sz="850" b="1" dirty="0">
                <a:solidFill>
                  <a:srgbClr val="35C7D8"/>
                </a:solidFill>
              </a:rPr>
              <a:t>4  </a:t>
            </a:r>
            <a:r>
              <a:rPr lang="en-US" sz="850" b="1" dirty="0">
                <a:solidFill>
                  <a:srgbClr val="08124F"/>
                </a:solidFill>
              </a:rPr>
              <a:t>WHAT IT PROPOSED</a:t>
            </a:r>
          </a:p>
          <a:p>
            <a:pPr marL="0" indent="0" algn="l">
              <a:spcBef>
                <a:spcPts val="90"/>
              </a:spcBef>
              <a:buNone/>
            </a:pPr>
            <a:r>
              <a:rPr lang="en-US" sz="780" b="0" dirty="0">
                <a:solidFill>
                  <a:srgbClr val="5E6784"/>
                </a:solidFill>
              </a:rPr>
              <a:t>5 stories, each traced to the requirement it covers. 1 malformed draft rejected by the schema and shown — not quietly repaired.</a:t>
            </a:r>
          </a:p>
        </p:txBody>
      </p:sp>
      <p:sp>
        <p:nvSpPr>
          <p:cNvPr id="521" name="d"/>
          <p:cNvSpPr/>
          <p:nvPr/>
        </p:nvSpPr>
        <p:spPr>
          <a:xfrm>
            <a:off x="566928" y="4460000"/>
            <a:ext cx="5100000" cy="70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22" name="d"/>
          <p:cNvSpPr/>
          <p:nvPr/>
        </p:nvSpPr>
        <p:spPr>
          <a:xfrm>
            <a:off x="566928" y="4460000"/>
            <a:ext cx="73152" cy="700000"/>
          </a:xfrm>
          <a:prstGeom prst="rect">
            <a:avLst/>
          </a:prstGeom>
          <a:solidFill>
            <a:srgbClr val="38B27B"/>
          </a:solidFill>
          <a:ln>
            <a:noFill/>
          </a:ln>
        </p:spPr>
        <p:txBody>
          <a:bodyPr lIns="82296" tIns="36576" rIns="82296" bIns="36576" anchor="ctr" wrap="square">
            <a:normAutofit/>
          </a:bodyPr>
          <a:lstStyle/>
          <a:p>
            <a:pPr algn="l"/>
            <a:endParaRPr lang="en-US"/>
          </a:p>
        </p:txBody>
      </p:sp>
      <p:sp>
        <p:nvSpPr>
          <p:cNvPr id="523" name="d"/>
          <p:cNvSpPr/>
          <p:nvPr/>
        </p:nvSpPr>
        <p:spPr>
          <a:xfrm>
            <a:off x="756928" y="4550000"/>
            <a:ext cx="4780000" cy="520000"/>
          </a:xfrm>
          <a:prstGeom prst="rect">
            <a:avLst/>
          </a:prstGeom>
          <a:noFill/>
          <a:ln>
            <a:noFill/>
          </a:ln>
        </p:spPr>
        <p:txBody>
          <a:bodyPr lIns="0" tIns="0" rIns="0" bIns="0" anchor="ctr" wrap="square">
            <a:normAutofit/>
          </a:bodyPr>
          <a:lstStyle/>
          <a:p>
            <a:pPr marL="0" indent="0" algn="l">
              <a:buNone/>
            </a:pPr>
            <a:r>
              <a:rPr lang="en-US" sz="850" b="1" dirty="0">
                <a:solidFill>
                  <a:srgbClr val="38B27B"/>
                </a:solidFill>
              </a:rPr>
              <a:t>5  </a:t>
            </a:r>
            <a:r>
              <a:rPr lang="en-US" sz="850" b="1" dirty="0">
                <a:solidFill>
                  <a:srgbClr val="08124F"/>
                </a:solidFill>
              </a:rPr>
              <a:t>WHAT YOU APPROVED</a:t>
            </a:r>
          </a:p>
          <a:p>
            <a:pPr marL="0" indent="0" algn="l">
              <a:spcBef>
                <a:spcPts val="90"/>
              </a:spcBef>
              <a:buNone/>
            </a:pPr>
            <a:r>
              <a:rPr lang="en-US" sz="780" b="0" dirty="0">
                <a:solidFill>
                  <a:srgbClr val="5E6784"/>
                </a:solidFill>
              </a:rPr>
              <a:t>2 of 5; the other 3 declined. A simulated 429 retry created nothing twice. Audit: analysis → proposal → approval → execution.</a:t>
            </a:r>
          </a:p>
        </p:txBody>
      </p:sp>
      <p:sp>
        <p:nvSpPr>
          <p:cNvPr id="524" name="d"/>
          <p:cNvSpPr/>
          <p:nvPr/>
        </p:nvSpPr>
        <p:spPr>
          <a:xfrm>
            <a:off x="5900000" y="1500000"/>
            <a:ext cx="5694592" cy="3660000"/>
          </a:xfrm>
          <a:prstGeom prst="roundRect">
            <a:avLst>
              <a:gd name="adj" fmla="val 4000"/>
            </a:avLst>
          </a:prstGeom>
          <a:solidFill>
            <a:srgbClr val="08124F"/>
          </a:solidFill>
          <a:ln>
            <a:noFill/>
          </a:ln>
        </p:spPr>
        <p:txBody>
          <a:bodyPr lIns="82296" tIns="36576" rIns="82296" bIns="36576" anchor="ctr" wrap="square">
            <a:normAutofit/>
          </a:bodyPr>
          <a:lstStyle/>
          <a:p>
            <a:pPr algn="l"/>
            <a:endParaRPr lang="en-US"/>
          </a:p>
        </p:txBody>
      </p:sp>
      <p:sp>
        <p:nvSpPr>
          <p:cNvPr id="525" name="d"/>
          <p:cNvSpPr/>
          <p:nvPr/>
        </p:nvSpPr>
        <p:spPr>
          <a:xfrm>
            <a:off x="5945720" y="1545720"/>
            <a:ext cx="5603152" cy="292608"/>
          </a:xfrm>
          <a:prstGeom prst="roundRect">
            <a:avLst>
              <a:gd name="adj" fmla="val 16000"/>
            </a:avLst>
          </a:prstGeom>
          <a:solidFill>
            <a:srgbClr val="1B2668"/>
          </a:solidFill>
          <a:ln>
            <a:noFill/>
          </a:ln>
        </p:spPr>
        <p:txBody>
          <a:bodyPr lIns="82296" tIns="36576" rIns="82296" bIns="36576" anchor="ctr" wrap="square">
            <a:normAutofit/>
          </a:bodyPr>
          <a:lstStyle/>
          <a:p>
            <a:pPr marL="0" indent="0" algn="ctr">
              <a:buNone/>
            </a:pPr>
            <a:r>
              <a:rPr lang="en-US" sz="700" b="0" dirty="0">
                <a:solidFill>
                  <a:srgbClr val="A9BFFF"/>
                </a:solidFill>
                <a:latin typeface="Consolas"/>
                <a:cs typeface="Consolas"/>
              </a:rPr>
              <a:t>refineai  —  epic RBOC-200683</a:t>
            </a:r>
          </a:p>
        </p:txBody>
      </p:sp>
      <p:sp>
        <p:nvSpPr>
          <p:cNvPr id="526" name="d"/>
          <p:cNvSpPr/>
          <p:nvPr/>
        </p:nvSpPr>
        <p:spPr>
          <a:xfrm>
            <a:off x="6055000" y="1646304"/>
            <a:ext cx="91440" cy="91440"/>
          </a:xfrm>
          <a:prstGeom prst="ellipse">
            <a:avLst/>
          </a:prstGeom>
          <a:solidFill>
            <a:srgbClr val="FF5F57"/>
          </a:solidFill>
          <a:ln>
            <a:noFill/>
          </a:ln>
        </p:spPr>
        <p:txBody>
          <a:bodyPr lIns="82296" tIns="36576" rIns="82296" bIns="36576" anchor="ctr" wrap="square">
            <a:normAutofit/>
          </a:bodyPr>
          <a:lstStyle/>
          <a:p>
            <a:pPr algn="l"/>
            <a:endParaRPr lang="en-US"/>
          </a:p>
        </p:txBody>
      </p:sp>
      <p:sp>
        <p:nvSpPr>
          <p:cNvPr id="527" name="d"/>
          <p:cNvSpPr/>
          <p:nvPr/>
        </p:nvSpPr>
        <p:spPr>
          <a:xfrm>
            <a:off x="6192160" y="1646304"/>
            <a:ext cx="91440" cy="91440"/>
          </a:xfrm>
          <a:prstGeom prst="ellipse">
            <a:avLst/>
          </a:prstGeom>
          <a:solidFill>
            <a:srgbClr val="FEBC2E"/>
          </a:solidFill>
          <a:ln>
            <a:noFill/>
          </a:ln>
        </p:spPr>
        <p:txBody>
          <a:bodyPr lIns="82296" tIns="36576" rIns="82296" bIns="36576" anchor="ctr" wrap="square">
            <a:normAutofit/>
          </a:bodyPr>
          <a:lstStyle/>
          <a:p>
            <a:pPr algn="l"/>
            <a:endParaRPr lang="en-US"/>
          </a:p>
        </p:txBody>
      </p:sp>
      <p:sp>
        <p:nvSpPr>
          <p:cNvPr id="528" name="d"/>
          <p:cNvSpPr/>
          <p:nvPr/>
        </p:nvSpPr>
        <p:spPr>
          <a:xfrm>
            <a:off x="6329320" y="1646304"/>
            <a:ext cx="91440" cy="91440"/>
          </a:xfrm>
          <a:prstGeom prst="ellipse">
            <a:avLst/>
          </a:prstGeom>
          <a:solidFill>
            <a:srgbClr val="28C840"/>
          </a:solidFill>
          <a:ln>
            <a:noFill/>
          </a:ln>
        </p:spPr>
        <p:txBody>
          <a:bodyPr lIns="82296" tIns="36576" rIns="82296" bIns="36576" anchor="ctr" wrap="square">
            <a:normAutofit/>
          </a:bodyPr>
          <a:lstStyle/>
          <a:p>
            <a:pPr algn="l"/>
            <a:endParaRPr lang="en-US"/>
          </a:p>
        </p:txBody>
      </p:sp>
      <p:sp>
        <p:nvSpPr>
          <p:cNvPr id="529" name="d"/>
          <p:cNvSpPr/>
          <p:nvPr/>
        </p:nvSpPr>
        <p:spPr>
          <a:xfrm>
            <a:off x="6110000" y="1980000"/>
            <a:ext cx="5274592" cy="3040000"/>
          </a:xfrm>
          <a:prstGeom prst="rect">
            <a:avLst/>
          </a:prstGeom>
          <a:noFill/>
          <a:ln>
            <a:noFill/>
          </a:ln>
        </p:spPr>
        <p:txBody>
          <a:bodyPr lIns="0" tIns="0" rIns="0" bIns="0" anchor="t" wrap="square">
            <a:normAutofit/>
          </a:bodyPr>
          <a:lstStyle/>
          <a:p>
            <a:pPr marL="0" indent="0" algn="l">
              <a:buNone/>
            </a:pPr>
            <a:r>
              <a:rPr lang="en-US" sz="860" b="1" dirty="0">
                <a:solidFill>
                  <a:srgbClr val="A9BFFF"/>
                </a:solidFill>
                <a:latin typeface="Consolas"/>
                <a:cs typeface="Consolas"/>
              </a:rPr>
              <a:t>$ refine RBOC-200683</a:t>
            </a:r>
          </a:p>
          <a:p>
            <a:pPr marL="0" indent="0" algn="l">
              <a:spcBef>
                <a:spcPts val="420"/>
              </a:spcBef>
              <a:buNone/>
            </a:pPr>
            <a:r>
              <a:rPr lang="en-US" sz="860" b="1" dirty="0">
                <a:solidFill>
                  <a:srgbClr val="35C7D8"/>
                </a:solidFill>
                <a:latin typeface="Consolas"/>
                <a:cs typeface="Consolas"/>
              </a:rPr>
              <a:t>stage 03  COLLECTING_CONTEXT</a:t>
            </a:r>
          </a:p>
          <a:p>
            <a:pPr marL="0" indent="0" algn="l">
              <a:spcBef>
                <a:spcPts val="60"/>
              </a:spcBef>
              <a:buNone/>
            </a:pPr>
            <a:r>
              <a:rPr lang="en-US" sz="860" b="0" dirty="0">
                <a:solidFill>
                  <a:srgbClr val="8FA3D9"/>
                </a:solidFill>
                <a:latin typeface="Consolas"/>
                <a:cs typeface="Consolas"/>
              </a:rPr>
              <a:t>  sources        </a:t>
            </a:r>
            <a:r>
              <a:rPr lang="en-US" sz="860" b="0" dirty="0">
                <a:solidFill>
                  <a:srgbClr val="FFFFFF"/>
                </a:solidFill>
                <a:latin typeface="Consolas"/>
                <a:cs typeface="Consolas"/>
              </a:rPr>
              <a:t>jira  confluence  teams  figma</a:t>
            </a:r>
          </a:p>
          <a:p>
            <a:pPr marL="0" indent="0" algn="l">
              <a:spcBef>
                <a:spcPts val="60"/>
              </a:spcBef>
              <a:buNone/>
            </a:pPr>
            <a:r>
              <a:rPr lang="en-US" sz="860" b="0" dirty="0">
                <a:solidFill>
                  <a:srgbClr val="8FA3D9"/>
                </a:solidFill>
                <a:latin typeface="Consolas"/>
                <a:cs typeface="Consolas"/>
              </a:rPr>
              <a:t>  inaccessible   </a:t>
            </a:r>
            <a:r>
              <a:rPr lang="en-US" sz="860" b="1" dirty="0">
                <a:solidFill>
                  <a:srgbClr val="FFC83D"/>
                </a:solidFill>
                <a:latin typeface="Consolas"/>
                <a:cs typeface="Consolas"/>
              </a:rPr>
              <a:t>1  github (not authenticated)</a:t>
            </a:r>
          </a:p>
          <a:p>
            <a:pPr marL="0" indent="0" algn="l">
              <a:spcBef>
                <a:spcPts val="60"/>
              </a:spcBef>
              <a:buNone/>
            </a:pPr>
            <a:r>
              <a:rPr lang="en-US" sz="860" b="0" dirty="0">
                <a:solidFill>
                  <a:srgbClr val="8FA3D9"/>
                </a:solidFill>
                <a:latin typeface="Consolas"/>
                <a:cs typeface="Consolas"/>
              </a:rPr>
              <a:t>  injection      </a:t>
            </a:r>
            <a:r>
              <a:rPr lang="en-US" sz="860" b="1" dirty="0">
                <a:solidFill>
                  <a:srgbClr val="FFC83D"/>
                </a:solidFill>
                <a:latin typeface="Consolas"/>
                <a:cs typeface="Consolas"/>
              </a:rPr>
              <a:t>1  transcript said “create the</a:t>
            </a:r>
          </a:p>
          <a:p>
            <a:pPr marL="0" indent="0" algn="l">
              <a:spcBef>
                <a:spcPts val="60"/>
              </a:spcBef>
              <a:buNone/>
            </a:pPr>
            <a:r>
              <a:rPr lang="en-US" sz="860" b="0" dirty="0">
                <a:solidFill>
                  <a:srgbClr val="8FA3D9"/>
                </a:solidFill>
                <a:latin typeface="Consolas"/>
                <a:cs typeface="Consolas"/>
              </a:rPr>
              <a:t>                 </a:t>
            </a:r>
            <a:r>
              <a:rPr lang="en-US" sz="860" b="1" dirty="0">
                <a:solidFill>
                  <a:srgbClr val="FFC83D"/>
                </a:solidFill>
                <a:latin typeface="Consolas"/>
                <a:cs typeface="Consolas"/>
              </a:rPr>
              <a:t>   issues now” → quoted, refused</a:t>
            </a:r>
          </a:p>
          <a:p>
            <a:pPr marL="0" indent="0" algn="l">
              <a:spcBef>
                <a:spcPts val="480"/>
              </a:spcBef>
              <a:buNone/>
            </a:pPr>
            <a:r>
              <a:rPr lang="en-US" sz="860" b="1" dirty="0">
                <a:solidFill>
                  <a:srgbClr val="35C7D8"/>
                </a:solidFill>
                <a:latin typeface="Consolas"/>
                <a:cs typeface="Consolas"/>
              </a:rPr>
              <a:t>stage 05  ANALYZING_REFINEMENT_READINESS</a:t>
            </a:r>
          </a:p>
          <a:p>
            <a:pPr marL="0" indent="0" algn="l">
              <a:spcBef>
                <a:spcPts val="60"/>
              </a:spcBef>
              <a:buNone/>
            </a:pPr>
            <a:r>
              <a:rPr lang="en-US" sz="860" b="0" dirty="0">
                <a:solidFill>
                  <a:srgbClr val="8FA3D9"/>
                </a:solidFill>
                <a:latin typeface="Consolas"/>
                <a:cs typeface="Consolas"/>
              </a:rPr>
              <a:t>  verdict        </a:t>
            </a:r>
            <a:r>
              <a:rPr lang="en-US" sz="860" b="1" dirty="0">
                <a:solidFill>
                  <a:srgbClr val="FFC83D"/>
                </a:solidFill>
                <a:latin typeface="Consolas"/>
                <a:cs typeface="Consolas"/>
              </a:rPr>
              <a:t>NOT_READY</a:t>
            </a:r>
          </a:p>
          <a:p>
            <a:pPr marL="0" indent="0" algn="l">
              <a:spcBef>
                <a:spcPts val="60"/>
              </a:spcBef>
              <a:buNone/>
            </a:pPr>
            <a:r>
              <a:rPr lang="en-US" sz="860" b="0" dirty="0">
                <a:solidFill>
                  <a:srgbClr val="8FA3D9"/>
                </a:solidFill>
                <a:latin typeface="Consolas"/>
                <a:cs typeface="Consolas"/>
              </a:rPr>
              <a:t>  readiness      </a:t>
            </a:r>
            <a:r>
              <a:rPr lang="en-US" sz="860" b="0" dirty="0">
                <a:solidFill>
                  <a:srgbClr val="FFFFFF"/>
                </a:solidFill>
                <a:latin typeface="Consolas"/>
                <a:cs typeface="Consolas"/>
              </a:rPr>
              <a:t>65/100   risk 100   confidence 86</a:t>
            </a:r>
          </a:p>
          <a:p>
            <a:pPr marL="0" indent="0" algn="l">
              <a:spcBef>
                <a:spcPts val="60"/>
              </a:spcBef>
              <a:buNone/>
            </a:pPr>
            <a:r>
              <a:rPr lang="en-US" sz="860" b="0" dirty="0">
                <a:solidFill>
                  <a:srgbClr val="8FA3D9"/>
                </a:solidFill>
                <a:latin typeface="Consolas"/>
                <a:cs typeface="Consolas"/>
              </a:rPr>
              <a:t>  blocking       </a:t>
            </a:r>
            <a:r>
              <a:rPr lang="en-US" sz="860" b="0" dirty="0">
                <a:solidFill>
                  <a:srgbClr val="FFFFFF"/>
                </a:solidFill>
                <a:latin typeface="Consolas"/>
                <a:cs typeface="Consolas"/>
              </a:rPr>
              <a:t>acceptance criteria not measurable</a:t>
            </a:r>
          </a:p>
          <a:p>
            <a:pPr marL="0" indent="0" algn="l">
              <a:spcBef>
                <a:spcPts val="480"/>
              </a:spcBef>
              <a:buNone/>
            </a:pPr>
            <a:r>
              <a:rPr lang="en-US" sz="860" b="1" dirty="0">
                <a:solidFill>
                  <a:srgbClr val="35C7D8"/>
                </a:solidFill>
                <a:latin typeface="Consolas"/>
                <a:cs typeface="Consolas"/>
              </a:rPr>
              <a:t>stage 06  DETECTING_CONFLICTS</a:t>
            </a:r>
          </a:p>
          <a:p>
            <a:pPr marL="0" indent="0" algn="l">
              <a:spcBef>
                <a:spcPts val="60"/>
              </a:spcBef>
              <a:buNone/>
            </a:pPr>
            <a:r>
              <a:rPr lang="en-US" sz="860" b="0" dirty="0">
                <a:solidFill>
                  <a:srgbClr val="8FA3D9"/>
                </a:solidFill>
                <a:latin typeface="Consolas"/>
                <a:cs typeface="Consolas"/>
              </a:rPr>
              <a:t>  export volume  </a:t>
            </a:r>
            <a:r>
              <a:rPr lang="en-US" sz="860" b="0" dirty="0">
                <a:solidFill>
                  <a:srgbClr val="FFFFFF"/>
                </a:solidFill>
                <a:latin typeface="Consolas"/>
                <a:cs typeface="Consolas"/>
              </a:rPr>
              <a:t>jira 10,000 rows</a:t>
            </a:r>
          </a:p>
          <a:p>
            <a:pPr marL="0" indent="0" algn="l">
              <a:spcBef>
                <a:spcPts val="60"/>
              </a:spcBef>
              <a:buNone/>
            </a:pPr>
            <a:r>
              <a:rPr lang="en-US" sz="860" b="0" dirty="0">
                <a:solidFill>
                  <a:srgbClr val="8FA3D9"/>
                </a:solidFill>
                <a:latin typeface="Consolas"/>
                <a:cs typeface="Consolas"/>
              </a:rPr>
              <a:t>                 </a:t>
            </a:r>
            <a:r>
              <a:rPr lang="en-US" sz="860" b="0" dirty="0">
                <a:solidFill>
                  <a:srgbClr val="FFFFFF"/>
                </a:solidFill>
                <a:latin typeface="Consolas"/>
                <a:cs typeface="Consolas"/>
              </a:rPr>
              <a:t>confluence 50,000 rows → you decide</a:t>
            </a:r>
          </a:p>
          <a:p>
            <a:pPr marL="0" indent="0" algn="l">
              <a:spcBef>
                <a:spcPts val="480"/>
              </a:spcBef>
              <a:buNone/>
            </a:pPr>
            <a:r>
              <a:rPr lang="en-US" sz="860" b="1" dirty="0">
                <a:solidFill>
                  <a:srgbClr val="35C7D8"/>
                </a:solidFill>
                <a:latin typeface="Consolas"/>
                <a:cs typeface="Consolas"/>
              </a:rPr>
              <a:t>stage 08  GENERATING_STORIES</a:t>
            </a:r>
          </a:p>
          <a:p>
            <a:pPr marL="0" indent="0" algn="l">
              <a:spcBef>
                <a:spcPts val="60"/>
              </a:spcBef>
              <a:buNone/>
            </a:pPr>
            <a:r>
              <a:rPr lang="en-US" sz="860" b="0" dirty="0">
                <a:solidFill>
                  <a:srgbClr val="8FA3D9"/>
                </a:solidFill>
                <a:latin typeface="Consolas"/>
                <a:cs typeface="Consolas"/>
              </a:rPr>
              <a:t>  proposed       </a:t>
            </a:r>
            <a:r>
              <a:rPr lang="en-US" sz="860" b="0" dirty="0">
                <a:solidFill>
                  <a:srgbClr val="FFFFFF"/>
                </a:solidFill>
                <a:latin typeface="Consolas"/>
                <a:cs typeface="Consolas"/>
              </a:rPr>
              <a:t>5     rejectedDrafts 1 (schema)</a:t>
            </a:r>
          </a:p>
          <a:p>
            <a:pPr marL="0" indent="0" algn="l">
              <a:spcBef>
                <a:spcPts val="60"/>
              </a:spcBef>
              <a:buNone/>
            </a:pPr>
            <a:r>
              <a:rPr lang="en-US" sz="860" b="0" dirty="0">
                <a:solidFill>
                  <a:srgbClr val="8FA3D9"/>
                </a:solidFill>
                <a:latin typeface="Consolas"/>
                <a:cs typeface="Consolas"/>
              </a:rPr>
              <a:t>  coverage       </a:t>
            </a:r>
            <a:r>
              <a:rPr lang="en-US" sz="860" b="0" dirty="0">
                <a:solidFill>
                  <a:srgbClr val="FFFFFF"/>
                </a:solidFill>
                <a:latin typeface="Consolas"/>
                <a:cs typeface="Consolas"/>
              </a:rPr>
              <a:t>7/7 requirements</a:t>
            </a:r>
          </a:p>
          <a:p>
            <a:pPr marL="0" indent="0" algn="l">
              <a:spcBef>
                <a:spcPts val="480"/>
              </a:spcBef>
              <a:buNone/>
            </a:pPr>
            <a:r>
              <a:rPr lang="en-US" sz="860" b="1" dirty="0">
                <a:solidFill>
                  <a:srgbClr val="FFC83D"/>
                </a:solidFill>
                <a:latin typeface="Consolas"/>
                <a:cs typeface="Consolas"/>
              </a:rPr>
              <a:t>stage 17  AWAITING_APPROVAL</a:t>
            </a:r>
          </a:p>
          <a:p>
            <a:pPr marL="0" indent="0" algn="l">
              <a:spcBef>
                <a:spcPts val="60"/>
              </a:spcBef>
              <a:buNone/>
            </a:pPr>
            <a:r>
              <a:rPr lang="en-US" sz="860" b="0" dirty="0">
                <a:solidFill>
                  <a:srgbClr val="8FA3D9"/>
                </a:solidFill>
                <a:latin typeface="Consolas"/>
                <a:cs typeface="Consolas"/>
              </a:rPr>
              <a:t>  paused         </a:t>
            </a:r>
            <a:r>
              <a:rPr lang="en-US" sz="860" b="1" dirty="0">
                <a:solidFill>
                  <a:srgbClr val="FFFFFF"/>
                </a:solidFill>
                <a:latin typeface="Consolas"/>
                <a:cs typeface="Consolas"/>
              </a:rPr>
              <a:t>0 writes   RA-20260909-7736ff40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03 / DEMO</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Evidence from Live NIQ Delivery Boards</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The same engine that runs offline in the demo, pointed at production Jira — these three answers came back in one prompt.</a:t>
            </a:r>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THE VERB</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The output is not “here is a chart”; it is “escalate these two approvals today, and re-baseline before the review.”</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
        <p:nvSpPr>
          <p:cNvPr id="530" name="d"/>
          <p:cNvSpPr/>
          <p:nvPr/>
        </p:nvSpPr>
        <p:spPr>
          <a:xfrm>
            <a:off x="566928" y="1500000"/>
            <a:ext cx="3703320" cy="366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31" name="d"/>
          <p:cNvSpPr/>
          <p:nvPr/>
        </p:nvSpPr>
        <p:spPr>
          <a:xfrm>
            <a:off x="566928" y="1500000"/>
            <a:ext cx="73152" cy="3660000"/>
          </a:xfrm>
          <a:prstGeom prst="rect">
            <a:avLst/>
          </a:prstGeom>
          <a:solidFill>
            <a:srgbClr val="2E6AF6"/>
          </a:solidFill>
          <a:ln>
            <a:noFill/>
          </a:ln>
        </p:spPr>
        <p:txBody>
          <a:bodyPr lIns="82296" tIns="36576" rIns="82296" bIns="36576" anchor="ctr" wrap="square">
            <a:normAutofit/>
          </a:bodyPr>
          <a:lstStyle/>
          <a:p>
            <a:pPr algn="l"/>
            <a:endParaRPr lang="en-US"/>
          </a:p>
        </p:txBody>
      </p:sp>
      <p:sp>
        <p:nvSpPr>
          <p:cNvPr id="532" name="d"/>
          <p:cNvSpPr/>
          <p:nvPr/>
        </p:nvSpPr>
        <p:spPr>
          <a:xfrm>
            <a:off x="756928" y="1640000"/>
            <a:ext cx="3383320" cy="3380000"/>
          </a:xfrm>
          <a:prstGeom prst="rect">
            <a:avLst/>
          </a:prstGeom>
          <a:noFill/>
          <a:ln>
            <a:noFill/>
          </a:ln>
        </p:spPr>
        <p:txBody>
          <a:bodyPr lIns="0" tIns="0" rIns="0" bIns="0" anchor="t" wrap="square">
            <a:normAutofit/>
          </a:bodyPr>
          <a:lstStyle/>
          <a:p>
            <a:pPr algn="l"/>
            <a:endParaRPr lang="en-US"/>
          </a:p>
        </p:txBody>
      </p:sp>
      <p:sp>
        <p:nvSpPr>
          <p:cNvPr id="533" name="d"/>
          <p:cNvSpPr/>
          <p:nvPr/>
        </p:nvSpPr>
        <p:spPr>
          <a:xfrm>
            <a:off x="756928" y="1640000"/>
            <a:ext cx="3383320" cy="24000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SCOPE CREEP, FROM CHANGELOGS</a:t>
            </a:r>
          </a:p>
        </p:txBody>
      </p:sp>
      <p:sp>
        <p:nvSpPr>
          <p:cNvPr id="534" name="d"/>
          <p:cNvSpPr/>
          <p:nvPr/>
        </p:nvSpPr>
        <p:spPr>
          <a:xfrm>
            <a:off x="756928" y="1980000"/>
            <a:ext cx="1591660" cy="900000"/>
          </a:xfrm>
          <a:prstGeom prst="roundRect">
            <a:avLst>
              <a:gd name="adj" fmla="val 10000"/>
            </a:avLst>
          </a:prstGeom>
          <a:solidFill>
            <a:srgbClr val="E9F0FE"/>
          </a:solidFill>
          <a:ln w="9525">
            <a:solidFill>
              <a:srgbClr val="2E6AF6"/>
            </a:solidFill>
          </a:ln>
        </p:spPr>
        <p:txBody>
          <a:bodyPr lIns="82296" tIns="36576" rIns="82296" bIns="36576" anchor="ctr" wrap="square">
            <a:normAutofit/>
          </a:bodyPr>
          <a:lstStyle/>
          <a:p>
            <a:pPr marL="0" indent="0" algn="ctr">
              <a:buNone/>
            </a:pPr>
            <a:r>
              <a:rPr lang="en-US" sz="2600" b="1" dirty="0">
                <a:solidFill>
                  <a:srgbClr val="08124F"/>
                </a:solidFill>
              </a:rPr>
              <a:t>16</a:t>
            </a:r>
          </a:p>
          <a:p>
            <a:pPr marL="0" indent="0" algn="ctr">
              <a:spcBef>
                <a:spcPts val="60"/>
              </a:spcBef>
              <a:buNone/>
            </a:pPr>
            <a:r>
              <a:rPr lang="en-US" sz="650" b="0" dirty="0">
                <a:solidFill>
                  <a:srgbClr val="5E6784"/>
                </a:solidFill>
              </a:rPr>
              <a:t>COMMITTED AT SPRINT START</a:t>
            </a:r>
          </a:p>
        </p:txBody>
      </p:sp>
      <p:sp>
        <p:nvSpPr>
          <p:cNvPr id="535" name="d"/>
          <p:cNvSpPr/>
          <p:nvPr/>
        </p:nvSpPr>
        <p:spPr>
          <a:xfrm>
            <a:off x="2548588" y="1980000"/>
            <a:ext cx="1591660" cy="900000"/>
          </a:xfrm>
          <a:prstGeom prst="roundRect">
            <a:avLst>
              <a:gd name="adj" fmla="val 10000"/>
            </a:avLst>
          </a:prstGeom>
          <a:solidFill>
            <a:srgbClr val="FFF7E4"/>
          </a:solidFill>
          <a:ln w="9525">
            <a:solidFill>
              <a:srgbClr val="FFC83D"/>
            </a:solidFill>
          </a:ln>
        </p:spPr>
        <p:txBody>
          <a:bodyPr lIns="82296" tIns="36576" rIns="82296" bIns="36576" anchor="ctr" wrap="square">
            <a:normAutofit/>
          </a:bodyPr>
          <a:lstStyle/>
          <a:p>
            <a:pPr marL="0" indent="0" algn="ctr">
              <a:buNone/>
            </a:pPr>
            <a:r>
              <a:rPr lang="en-US" sz="2600" b="1" dirty="0">
                <a:solidFill>
                  <a:srgbClr val="08124F"/>
                </a:solidFill>
              </a:rPr>
              <a:t>17</a:t>
            </a:r>
          </a:p>
          <a:p>
            <a:pPr marL="0" indent="0" algn="ctr">
              <a:spcBef>
                <a:spcPts val="60"/>
              </a:spcBef>
              <a:buNone/>
            </a:pPr>
            <a:r>
              <a:rPr lang="en-US" sz="650" b="0" dirty="0">
                <a:solidFill>
                  <a:srgbClr val="5E6784"/>
                </a:solidFill>
              </a:rPr>
              <a:t>IN THE SPRINT TODAY</a:t>
            </a:r>
          </a:p>
        </p:txBody>
      </p:sp>
      <p:sp>
        <p:nvSpPr>
          <p:cNvPr id="536" name="d"/>
          <p:cNvSpPr/>
          <p:nvPr/>
        </p:nvSpPr>
        <p:spPr>
          <a:xfrm>
            <a:off x="756928" y="3100000"/>
            <a:ext cx="3383320" cy="700000"/>
          </a:xfrm>
          <a:prstGeom prst="roundRect">
            <a:avLst>
              <a:gd name="adj" fmla="val 10000"/>
            </a:avLst>
          </a:prstGeom>
          <a:solidFill>
            <a:srgbClr val="FFF7E4"/>
          </a:solidFill>
          <a:ln w="9525">
            <a:solidFill>
              <a:srgbClr val="FFC83D"/>
            </a:solidFill>
          </a:ln>
        </p:spPr>
        <p:txBody>
          <a:bodyPr lIns="82296" tIns="36576" rIns="82296" bIns="36576" anchor="ctr" wrap="square">
            <a:normAutofit/>
          </a:bodyPr>
          <a:lstStyle/>
          <a:p>
            <a:pPr marL="0" indent="0" algn="l">
              <a:buNone/>
            </a:pPr>
            <a:r>
              <a:rPr lang="en-US" sz="800" b="1" dirty="0">
                <a:solidFill>
                  <a:srgbClr val="08124F"/>
                </a:solidFill>
              </a:rPr>
              <a:t>RBOC-210093 was added on day 6</a:t>
            </a:r>
          </a:p>
          <a:p>
            <a:pPr marL="0" indent="0" algn="l">
              <a:spcBef>
                <a:spcPts val="80"/>
              </a:spcBef>
              <a:buNone/>
            </a:pPr>
            <a:r>
              <a:rPr lang="en-US" sz="740" b="0" dirty="0">
                <a:solidFill>
                  <a:srgbClr val="5E6784"/>
                </a:solidFill>
              </a:rPr>
              <a:t>— with the changelog entry that proves when.</a:t>
            </a:r>
          </a:p>
        </p:txBody>
      </p:sp>
      <p:sp>
        <p:nvSpPr>
          <p:cNvPr id="537" name="d"/>
          <p:cNvSpPr/>
          <p:nvPr/>
        </p:nvSpPr>
        <p:spPr>
          <a:xfrm>
            <a:off x="756928" y="3950000"/>
            <a:ext cx="3383320" cy="1050000"/>
          </a:xfrm>
          <a:prstGeom prst="rect">
            <a:avLst/>
          </a:prstGeom>
          <a:noFill/>
          <a:ln>
            <a:noFill/>
          </a:ln>
        </p:spPr>
        <p:txBody>
          <a:bodyPr lIns="0" tIns="0" rIns="0" bIns="0" anchor="t" wrap="square">
            <a:normAutofit/>
          </a:bodyPr>
          <a:lstStyle/>
          <a:p>
            <a:pPr marL="0" indent="0" algn="l">
              <a:buNone/>
            </a:pPr>
            <a:r>
              <a:rPr lang="en-US" sz="780" b="0" dirty="0">
                <a:solidFill>
                  <a:srgbClr val="5E6784"/>
                </a:solidFill>
              </a:rPr>
              <a:t>The original commitment is reconstructed from Jira changelogs, not read off today’s board.</a:t>
            </a:r>
          </a:p>
          <a:p>
            <a:pPr marL="0" indent="0" algn="l">
              <a:spcBef>
                <a:spcPts val="170"/>
              </a:spcBef>
              <a:buNone/>
            </a:pPr>
            <a:r>
              <a:rPr lang="en-US" sz="780" b="0" dirty="0">
                <a:solidFill>
                  <a:srgbClr val="5E6784"/>
                </a:solidFill>
              </a:rPr>
              <a:t>One extra story is small. One extra story the team never agreed to is not.</a:t>
            </a:r>
          </a:p>
          <a:p>
            <a:pPr marL="0" indent="0" algn="l">
              <a:spcBef>
                <a:spcPts val="170"/>
              </a:spcBef>
              <a:buNone/>
            </a:pPr>
            <a:r>
              <a:rPr lang="en-US" sz="780" b="1" dirty="0">
                <a:solidFill>
                  <a:srgbClr val="08124F"/>
                </a:solidFill>
              </a:rPr>
              <a:t>Scope creep stops being a feeling and becomes a fact with a date on it.</a:t>
            </a:r>
          </a:p>
        </p:txBody>
      </p:sp>
      <p:sp>
        <p:nvSpPr>
          <p:cNvPr id="538" name="d"/>
          <p:cNvSpPr/>
          <p:nvPr/>
        </p:nvSpPr>
        <p:spPr>
          <a:xfrm>
            <a:off x="4416552" y="1500000"/>
            <a:ext cx="3703320" cy="366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39" name="d"/>
          <p:cNvSpPr/>
          <p:nvPr/>
        </p:nvSpPr>
        <p:spPr>
          <a:xfrm>
            <a:off x="4416552" y="1500000"/>
            <a:ext cx="73152" cy="3660000"/>
          </a:xfrm>
          <a:prstGeom prst="rect">
            <a:avLst/>
          </a:prstGeom>
          <a:solidFill>
            <a:srgbClr val="35C7D8"/>
          </a:solidFill>
          <a:ln>
            <a:noFill/>
          </a:ln>
        </p:spPr>
        <p:txBody>
          <a:bodyPr lIns="82296" tIns="36576" rIns="82296" bIns="36576" anchor="ctr" wrap="square">
            <a:normAutofit/>
          </a:bodyPr>
          <a:lstStyle/>
          <a:p>
            <a:pPr algn="l"/>
            <a:endParaRPr lang="en-US"/>
          </a:p>
        </p:txBody>
      </p:sp>
      <p:sp>
        <p:nvSpPr>
          <p:cNvPr id="540" name="d"/>
          <p:cNvSpPr/>
          <p:nvPr/>
        </p:nvSpPr>
        <p:spPr>
          <a:xfrm>
            <a:off x="4606552" y="1640000"/>
            <a:ext cx="3383320" cy="3380000"/>
          </a:xfrm>
          <a:prstGeom prst="rect">
            <a:avLst/>
          </a:prstGeom>
          <a:noFill/>
          <a:ln>
            <a:noFill/>
          </a:ln>
        </p:spPr>
        <p:txBody>
          <a:bodyPr lIns="0" tIns="0" rIns="0" bIns="0" anchor="t" wrap="square">
            <a:normAutofit/>
          </a:bodyPr>
          <a:lstStyle/>
          <a:p>
            <a:pPr algn="l"/>
            <a:endParaRPr lang="en-US"/>
          </a:p>
        </p:txBody>
      </p:sp>
      <p:sp>
        <p:nvSpPr>
          <p:cNvPr id="541" name="d"/>
          <p:cNvSpPr/>
          <p:nvPr/>
        </p:nvSpPr>
        <p:spPr>
          <a:xfrm>
            <a:off x="4606552" y="1640000"/>
            <a:ext cx="3383320" cy="24000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PACE AT DAY 6 OF 14</a:t>
            </a:r>
          </a:p>
        </p:txBody>
      </p:sp>
      <p:sp>
        <p:nvSpPr>
          <p:cNvPr id="542" name="d"/>
          <p:cNvSpPr/>
          <p:nvPr/>
        </p:nvSpPr>
        <p:spPr>
          <a:xfrm>
            <a:off x="4606552" y="2060000"/>
            <a:ext cx="3383320" cy="18288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COMPLETE TODAY</a:t>
            </a:r>
            <a:r>
              <a:rPr lang="en-US" sz="750" b="1" dirty="0">
                <a:solidFill>
                  <a:srgbClr val="FFC83D"/>
                </a:solidFill>
              </a:rPr>
              <a:t>   5.9%</a:t>
            </a:r>
          </a:p>
        </p:txBody>
      </p:sp>
      <p:sp>
        <p:nvSpPr>
          <p:cNvPr id="543" name="d"/>
          <p:cNvSpPr/>
          <p:nvPr/>
        </p:nvSpPr>
        <p:spPr>
          <a:xfrm>
            <a:off x="4606552" y="2261168"/>
            <a:ext cx="3383320" cy="137160"/>
          </a:xfrm>
          <a:prstGeom prst="roundRect">
            <a:avLst>
              <a:gd name="adj" fmla="val 50000"/>
            </a:avLst>
          </a:prstGeom>
          <a:solidFill>
            <a:srgbClr val="EDEFF6"/>
          </a:solidFill>
          <a:ln>
            <a:noFill/>
          </a:ln>
        </p:spPr>
        <p:txBody>
          <a:bodyPr lIns="82296" tIns="36576" rIns="82296" bIns="36576" anchor="ctr" wrap="square">
            <a:normAutofit/>
          </a:bodyPr>
          <a:lstStyle/>
          <a:p>
            <a:pPr algn="l"/>
            <a:endParaRPr lang="en-US"/>
          </a:p>
        </p:txBody>
      </p:sp>
      <p:sp>
        <p:nvSpPr>
          <p:cNvPr id="544" name="d"/>
          <p:cNvSpPr/>
          <p:nvPr/>
        </p:nvSpPr>
        <p:spPr>
          <a:xfrm>
            <a:off x="4606552" y="2261168"/>
            <a:ext cx="199616" cy="137160"/>
          </a:xfrm>
          <a:prstGeom prst="roundRect">
            <a:avLst>
              <a:gd name="adj" fmla="val 50000"/>
            </a:avLst>
          </a:prstGeom>
          <a:solidFill>
            <a:srgbClr val="FFC83D"/>
          </a:solidFill>
          <a:ln>
            <a:noFill/>
          </a:ln>
        </p:spPr>
        <p:txBody>
          <a:bodyPr lIns="82296" tIns="36576" rIns="82296" bIns="36576" anchor="ctr" wrap="square">
            <a:normAutofit/>
          </a:bodyPr>
          <a:lstStyle/>
          <a:p>
            <a:pPr algn="l"/>
            <a:endParaRPr lang="en-US"/>
          </a:p>
        </p:txBody>
      </p:sp>
      <p:sp>
        <p:nvSpPr>
          <p:cNvPr id="545" name="d"/>
          <p:cNvSpPr/>
          <p:nvPr/>
        </p:nvSpPr>
        <p:spPr>
          <a:xfrm>
            <a:off x="4606552" y="2700000"/>
            <a:ext cx="3383320" cy="18288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EXPECTED AT THIS POINT</a:t>
            </a:r>
            <a:r>
              <a:rPr lang="en-US" sz="750" b="1" dirty="0">
                <a:solidFill>
                  <a:srgbClr val="2E6AF6"/>
                </a:solidFill>
              </a:rPr>
              <a:t>   42.9%</a:t>
            </a:r>
          </a:p>
        </p:txBody>
      </p:sp>
      <p:sp>
        <p:nvSpPr>
          <p:cNvPr id="546" name="d"/>
          <p:cNvSpPr/>
          <p:nvPr/>
        </p:nvSpPr>
        <p:spPr>
          <a:xfrm>
            <a:off x="4606552" y="2901168"/>
            <a:ext cx="3383320" cy="137160"/>
          </a:xfrm>
          <a:prstGeom prst="roundRect">
            <a:avLst>
              <a:gd name="adj" fmla="val 50000"/>
            </a:avLst>
          </a:prstGeom>
          <a:solidFill>
            <a:srgbClr val="EDEFF6"/>
          </a:solidFill>
          <a:ln>
            <a:noFill/>
          </a:ln>
        </p:spPr>
        <p:txBody>
          <a:bodyPr lIns="82296" tIns="36576" rIns="82296" bIns="36576" anchor="ctr" wrap="square">
            <a:normAutofit/>
          </a:bodyPr>
          <a:lstStyle/>
          <a:p>
            <a:pPr algn="l"/>
            <a:endParaRPr lang="en-US"/>
          </a:p>
        </p:txBody>
      </p:sp>
      <p:sp>
        <p:nvSpPr>
          <p:cNvPr id="547" name="d"/>
          <p:cNvSpPr/>
          <p:nvPr/>
        </p:nvSpPr>
        <p:spPr>
          <a:xfrm>
            <a:off x="4606552" y="2901168"/>
            <a:ext cx="1451444" cy="137160"/>
          </a:xfrm>
          <a:prstGeom prst="roundRect">
            <a:avLst>
              <a:gd name="adj" fmla="val 50000"/>
            </a:avLst>
          </a:prstGeom>
          <a:solidFill>
            <a:srgbClr val="2E6AF6"/>
          </a:solidFill>
          <a:ln>
            <a:noFill/>
          </a:ln>
        </p:spPr>
        <p:txBody>
          <a:bodyPr lIns="82296" tIns="36576" rIns="82296" bIns="36576" anchor="ctr" wrap="square">
            <a:normAutofit/>
          </a:bodyPr>
          <a:lstStyle/>
          <a:p>
            <a:pPr algn="l"/>
            <a:endParaRPr lang="en-US"/>
          </a:p>
        </p:txBody>
      </p:sp>
      <p:sp>
        <p:nvSpPr>
          <p:cNvPr id="548" name="d"/>
          <p:cNvSpPr/>
          <p:nvPr/>
        </p:nvSpPr>
        <p:spPr>
          <a:xfrm>
            <a:off x="4606552" y="3340000"/>
            <a:ext cx="3383320" cy="18288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FORECAST AT SPRINT END</a:t>
            </a:r>
            <a:r>
              <a:rPr lang="en-US" sz="750" b="1" dirty="0">
                <a:solidFill>
                  <a:srgbClr val="5E6784"/>
                </a:solidFill>
              </a:rPr>
              <a:t>   ~14%</a:t>
            </a:r>
          </a:p>
        </p:txBody>
      </p:sp>
      <p:sp>
        <p:nvSpPr>
          <p:cNvPr id="549" name="d"/>
          <p:cNvSpPr/>
          <p:nvPr/>
        </p:nvSpPr>
        <p:spPr>
          <a:xfrm>
            <a:off x="4606552" y="3541168"/>
            <a:ext cx="3383320" cy="137160"/>
          </a:xfrm>
          <a:prstGeom prst="roundRect">
            <a:avLst>
              <a:gd name="adj" fmla="val 50000"/>
            </a:avLst>
          </a:prstGeom>
          <a:solidFill>
            <a:srgbClr val="EDEFF6"/>
          </a:solidFill>
          <a:ln>
            <a:noFill/>
          </a:ln>
        </p:spPr>
        <p:txBody>
          <a:bodyPr lIns="82296" tIns="36576" rIns="82296" bIns="36576" anchor="ctr" wrap="square">
            <a:normAutofit/>
          </a:bodyPr>
          <a:lstStyle/>
          <a:p>
            <a:pPr algn="l"/>
            <a:endParaRPr lang="en-US"/>
          </a:p>
        </p:txBody>
      </p:sp>
      <p:sp>
        <p:nvSpPr>
          <p:cNvPr id="550" name="d"/>
          <p:cNvSpPr/>
          <p:nvPr/>
        </p:nvSpPr>
        <p:spPr>
          <a:xfrm>
            <a:off x="4606552" y="3541168"/>
            <a:ext cx="473665" cy="137160"/>
          </a:xfrm>
          <a:prstGeom prst="roundRect">
            <a:avLst>
              <a:gd name="adj" fmla="val 50000"/>
            </a:avLst>
          </a:prstGeom>
          <a:solidFill>
            <a:srgbClr val="5E6784"/>
          </a:solidFill>
          <a:ln>
            <a:noFill/>
          </a:ln>
        </p:spPr>
        <p:txBody>
          <a:bodyPr lIns="82296" tIns="36576" rIns="82296" bIns="36576" anchor="ctr" wrap="square">
            <a:normAutofit/>
          </a:bodyPr>
          <a:lstStyle/>
          <a:p>
            <a:pPr algn="l"/>
            <a:endParaRPr lang="en-US"/>
          </a:p>
        </p:txBody>
      </p:sp>
      <p:sp>
        <p:nvSpPr>
          <p:cNvPr id="551" name="d"/>
          <p:cNvSpPr/>
          <p:nvPr/>
        </p:nvSpPr>
        <p:spPr>
          <a:xfrm>
            <a:off x="4606552" y="3950000"/>
            <a:ext cx="3383320" cy="1050000"/>
          </a:xfrm>
          <a:prstGeom prst="rect">
            <a:avLst/>
          </a:prstGeom>
          <a:noFill/>
          <a:ln>
            <a:noFill/>
          </a:ln>
        </p:spPr>
        <p:txBody>
          <a:bodyPr lIns="0" tIns="0" rIns="0" bIns="0" anchor="t" wrap="square">
            <a:normAutofit/>
          </a:bodyPr>
          <a:lstStyle/>
          <a:p>
            <a:pPr marL="0" indent="0" algn="l">
              <a:buNone/>
            </a:pPr>
            <a:r>
              <a:rPr lang="en-US" sz="780" b="0" dirty="0">
                <a:solidFill>
                  <a:srgbClr val="5E6784"/>
                </a:solidFill>
              </a:rPr>
              <a:t>A 37-point gap surfaced on day 6 — not discovered at the sprint review.</a:t>
            </a:r>
          </a:p>
          <a:p>
            <a:pPr marL="0" indent="0" algn="l">
              <a:spcBef>
                <a:spcPts val="170"/>
              </a:spcBef>
              <a:buNone/>
            </a:pPr>
            <a:r>
              <a:rPr lang="en-US" sz="780" b="0" dirty="0">
                <a:solidFill>
                  <a:srgbClr val="5E6784"/>
                </a:solidFill>
              </a:rPr>
              <a:t>The forecast is arithmetic on observed throughput, so a Product Owner can argue with it.</a:t>
            </a:r>
          </a:p>
          <a:p>
            <a:pPr marL="0" indent="0" algn="l">
              <a:spcBef>
                <a:spcPts val="170"/>
              </a:spcBef>
              <a:buNone/>
            </a:pPr>
            <a:r>
              <a:rPr lang="en-US" sz="780" b="1" dirty="0">
                <a:solidFill>
                  <a:srgbClr val="08124F"/>
                </a:solidFill>
              </a:rPr>
              <a:t>Enough runway left to re-scope, while re-scoping is still cheap.</a:t>
            </a:r>
          </a:p>
        </p:txBody>
      </p:sp>
      <p:sp>
        <p:nvSpPr>
          <p:cNvPr id="552" name="d"/>
          <p:cNvSpPr/>
          <p:nvPr/>
        </p:nvSpPr>
        <p:spPr>
          <a:xfrm>
            <a:off x="8266176" y="1500000"/>
            <a:ext cx="3328416" cy="3660000"/>
          </a:xfrm>
          <a:prstGeom prst="roundRect">
            <a:avLst>
              <a:gd name="adj" fmla="val 5000"/>
            </a:avLst>
          </a:prstGeom>
          <a:solidFill>
            <a:srgbClr val="FFFFFF"/>
          </a:solidFill>
          <a:ln w="9525">
            <a:solidFill>
              <a:srgbClr val="E2E7F4"/>
            </a:solidFill>
          </a:ln>
        </p:spPr>
        <p:txBody>
          <a:bodyPr lIns="82296" tIns="36576" rIns="82296" bIns="36576" anchor="ctr" wrap="square">
            <a:normAutofit/>
          </a:bodyPr>
          <a:lstStyle/>
          <a:p>
            <a:pPr algn="l"/>
            <a:endParaRPr lang="en-US"/>
          </a:p>
        </p:txBody>
      </p:sp>
      <p:sp>
        <p:nvSpPr>
          <p:cNvPr id="553" name="d"/>
          <p:cNvSpPr/>
          <p:nvPr/>
        </p:nvSpPr>
        <p:spPr>
          <a:xfrm>
            <a:off x="8266176" y="1500000"/>
            <a:ext cx="73152" cy="3660000"/>
          </a:xfrm>
          <a:prstGeom prst="rect">
            <a:avLst/>
          </a:prstGeom>
          <a:solidFill>
            <a:srgbClr val="FFC83D"/>
          </a:solidFill>
          <a:ln>
            <a:noFill/>
          </a:ln>
        </p:spPr>
        <p:txBody>
          <a:bodyPr lIns="82296" tIns="36576" rIns="82296" bIns="36576" anchor="ctr" wrap="square">
            <a:normAutofit/>
          </a:bodyPr>
          <a:lstStyle/>
          <a:p>
            <a:pPr algn="l"/>
            <a:endParaRPr lang="en-US"/>
          </a:p>
        </p:txBody>
      </p:sp>
      <p:sp>
        <p:nvSpPr>
          <p:cNvPr id="554" name="d"/>
          <p:cNvSpPr/>
          <p:nvPr/>
        </p:nvSpPr>
        <p:spPr>
          <a:xfrm>
            <a:off x="8456176" y="1640000"/>
            <a:ext cx="3008416" cy="3380000"/>
          </a:xfrm>
          <a:prstGeom prst="rect">
            <a:avLst/>
          </a:prstGeom>
          <a:noFill/>
          <a:ln>
            <a:noFill/>
          </a:ln>
        </p:spPr>
        <p:txBody>
          <a:bodyPr lIns="0" tIns="0" rIns="0" bIns="0" anchor="t" wrap="square">
            <a:normAutofit/>
          </a:bodyPr>
          <a:lstStyle/>
          <a:p>
            <a:pPr algn="l"/>
            <a:endParaRPr lang="en-US"/>
          </a:p>
        </p:txBody>
      </p:sp>
      <p:sp>
        <p:nvSpPr>
          <p:cNvPr id="555" name="d"/>
          <p:cNvSpPr/>
          <p:nvPr/>
        </p:nvSpPr>
        <p:spPr>
          <a:xfrm>
            <a:off x="8426176" y="1640000"/>
            <a:ext cx="3008416" cy="240000"/>
          </a:xfrm>
          <a:prstGeom prst="rect">
            <a:avLst/>
          </a:prstGeom>
          <a:noFill/>
          <a:ln>
            <a:noFill/>
          </a:ln>
        </p:spPr>
        <p:txBody>
          <a:bodyPr lIns="0" tIns="0" rIns="0" bIns="0" anchor="ctr" wrap="square">
            <a:normAutofit/>
          </a:bodyPr>
          <a:lstStyle/>
          <a:p>
            <a:pPr marL="0" indent="0" algn="l">
              <a:buNone/>
            </a:pPr>
            <a:r>
              <a:rPr lang="en-US" sz="750" b="1" dirty="0">
                <a:solidFill>
                  <a:srgbClr val="5E6784"/>
                </a:solidFill>
              </a:rPr>
              <a:t>WHAT IS ACTUALLY BLOCKED</a:t>
            </a:r>
          </a:p>
        </p:txBody>
      </p:sp>
      <p:sp>
        <p:nvSpPr>
          <p:cNvPr id="556" name="d"/>
          <p:cNvSpPr/>
          <p:nvPr/>
        </p:nvSpPr>
        <p:spPr>
          <a:xfrm>
            <a:off x="8426176" y="2000000"/>
            <a:ext cx="3008416" cy="560000"/>
          </a:xfrm>
          <a:prstGeom prst="roundRect">
            <a:avLst>
              <a:gd name="adj" fmla="val 14000"/>
            </a:avLst>
          </a:prstGeom>
          <a:solidFill>
            <a:srgbClr val="FFF7E4"/>
          </a:solidFill>
          <a:ln w="9525">
            <a:solidFill>
              <a:srgbClr val="FFC83D"/>
            </a:solidFill>
          </a:ln>
        </p:spPr>
        <p:txBody>
          <a:bodyPr lIns="82296" tIns="36576" rIns="82296" bIns="36576" anchor="ctr" wrap="square">
            <a:normAutofit/>
          </a:bodyPr>
          <a:lstStyle/>
          <a:p>
            <a:pPr marL="0" indent="0" algn="ctr">
              <a:buNone/>
            </a:pPr>
            <a:r>
              <a:rPr lang="en-US" sz="780" b="1" dirty="0">
                <a:solidFill>
                  <a:srgbClr val="08124F"/>
                </a:solidFill>
              </a:rPr>
              <a:t>RBOC-205277  ·  HIGH RISK</a:t>
            </a:r>
          </a:p>
          <a:p>
            <a:pPr marL="0" indent="0" algn="ctr">
              <a:spcBef>
                <a:spcPts val="60"/>
              </a:spcBef>
              <a:buNone/>
            </a:pPr>
            <a:r>
              <a:rPr lang="en-US" sz="680" b="0" dirty="0">
                <a:solidFill>
                  <a:srgbClr val="5E6784"/>
                </a:solidFill>
              </a:rPr>
              <a:t>In Progress</a:t>
            </a:r>
          </a:p>
        </p:txBody>
      </p:sp>
      <p:cxnSp>
        <p:nvCxnSpPr>
          <p:cNvPr id="557" name="a"/>
          <p:cNvCxnSpPr/>
          <p:nvPr/>
        </p:nvCxnSpPr>
        <p:spPr>
          <a:xfrm>
            <a:off x="9930384" y="2600000"/>
            <a:ext cx="0" cy="230000"/>
          </a:xfrm>
          <a:prstGeom prst="straightConnector1">
            <a:avLst/>
          </a:prstGeom>
          <a:ln w="19050">
            <a:solidFill>
              <a:srgbClr val="9AB0E8"/>
            </a:solidFill>
            <a:tailEnd type="triangle"/>
          </a:ln>
        </p:spPr>
      </p:cxnSp>
      <p:sp>
        <p:nvSpPr>
          <p:cNvPr id="558" name="d"/>
          <p:cNvSpPr/>
          <p:nvPr/>
        </p:nvSpPr>
        <p:spPr>
          <a:xfrm>
            <a:off x="8426176" y="2640000"/>
            <a:ext cx="3008416" cy="160000"/>
          </a:xfrm>
          <a:prstGeom prst="rect">
            <a:avLst/>
          </a:prstGeom>
          <a:noFill/>
          <a:ln>
            <a:noFill/>
          </a:ln>
        </p:spPr>
        <p:txBody>
          <a:bodyPr lIns="0" tIns="0" rIns="0" bIns="0" anchor="ctr" wrap="square">
            <a:normAutofit/>
          </a:bodyPr>
          <a:lstStyle/>
          <a:p>
            <a:pPr marL="0" indent="0" algn="l">
              <a:buNone/>
            </a:pPr>
            <a:r>
              <a:rPr lang="en-US" sz="650" b="0" i="1" dirty="0">
                <a:solidFill>
                  <a:srgbClr val="5E6784"/>
                </a:solidFill>
              </a:rPr>
              <a:t>blocked by</a:t>
            </a:r>
          </a:p>
        </p:txBody>
      </p:sp>
      <p:sp>
        <p:nvSpPr>
          <p:cNvPr id="559" name="d"/>
          <p:cNvSpPr/>
          <p:nvPr/>
        </p:nvSpPr>
        <p:spPr>
          <a:xfrm>
            <a:off x="8426176" y="2900000"/>
            <a:ext cx="3008416" cy="560000"/>
          </a:xfrm>
          <a:prstGeom prst="roundRect">
            <a:avLst>
              <a:gd name="adj" fmla="val 14000"/>
            </a:avLst>
          </a:prstGeom>
          <a:solidFill>
            <a:srgbClr val="EEF0F6"/>
          </a:solidFill>
          <a:ln w="9525">
            <a:solidFill>
              <a:srgbClr val="5E6784"/>
            </a:solidFill>
          </a:ln>
        </p:spPr>
        <p:txBody>
          <a:bodyPr lIns="82296" tIns="36576" rIns="82296" bIns="36576" anchor="ctr" wrap="square">
            <a:normAutofit/>
          </a:bodyPr>
          <a:lstStyle/>
          <a:p>
            <a:pPr marL="0" indent="0" algn="ctr">
              <a:buNone/>
            </a:pPr>
            <a:r>
              <a:rPr lang="en-US" sz="780" b="1" dirty="0">
                <a:solidFill>
                  <a:srgbClr val="08124F"/>
                </a:solidFill>
              </a:rPr>
              <a:t>RBOC-205270</a:t>
            </a:r>
          </a:p>
          <a:p>
            <a:pPr marL="0" indent="0" algn="ctr">
              <a:spcBef>
                <a:spcPts val="60"/>
              </a:spcBef>
              <a:buNone/>
            </a:pPr>
            <a:r>
              <a:rPr lang="en-US" sz="680" b="0" dirty="0">
                <a:solidFill>
                  <a:srgbClr val="5E6784"/>
                </a:solidFill>
              </a:rPr>
              <a:t>To Do  —  not started</a:t>
            </a:r>
          </a:p>
        </p:txBody>
      </p:sp>
      <p:cxnSp>
        <p:nvCxnSpPr>
          <p:cNvPr id="560" name="a"/>
          <p:cNvCxnSpPr/>
          <p:nvPr/>
        </p:nvCxnSpPr>
        <p:spPr>
          <a:xfrm>
            <a:off x="9930384" y="3500000"/>
            <a:ext cx="0" cy="230000"/>
          </a:xfrm>
          <a:prstGeom prst="straightConnector1">
            <a:avLst/>
          </a:prstGeom>
          <a:ln w="19050">
            <a:solidFill>
              <a:srgbClr val="9AB0E8"/>
            </a:solidFill>
            <a:tailEnd type="triangle"/>
          </a:ln>
        </p:spPr>
      </p:cxnSp>
      <p:sp>
        <p:nvSpPr>
          <p:cNvPr id="561" name="d"/>
          <p:cNvSpPr/>
          <p:nvPr/>
        </p:nvSpPr>
        <p:spPr>
          <a:xfrm>
            <a:off x="8426176" y="3540000"/>
            <a:ext cx="3008416" cy="160000"/>
          </a:xfrm>
          <a:prstGeom prst="rect">
            <a:avLst/>
          </a:prstGeom>
          <a:noFill/>
          <a:ln>
            <a:noFill/>
          </a:ln>
        </p:spPr>
        <p:txBody>
          <a:bodyPr lIns="0" tIns="0" rIns="0" bIns="0" anchor="ctr" wrap="square">
            <a:normAutofit/>
          </a:bodyPr>
          <a:lstStyle/>
          <a:p>
            <a:pPr marL="0" indent="0" algn="l">
              <a:buNone/>
            </a:pPr>
            <a:r>
              <a:rPr lang="en-US" sz="650" b="0" i="1" dirty="0">
                <a:solidFill>
                  <a:srgbClr val="5E6784"/>
                </a:solidFill>
              </a:rPr>
              <a:t>waiting on</a:t>
            </a:r>
          </a:p>
        </p:txBody>
      </p:sp>
      <p:sp>
        <p:nvSpPr>
          <p:cNvPr id="562" name="d"/>
          <p:cNvSpPr/>
          <p:nvPr/>
        </p:nvSpPr>
        <p:spPr>
          <a:xfrm>
            <a:off x="8426176" y="3800000"/>
            <a:ext cx="3008416" cy="440000"/>
          </a:xfrm>
          <a:prstGeom prst="roundRect">
            <a:avLst>
              <a:gd name="adj" fmla="val 14000"/>
            </a:avLst>
          </a:prstGeom>
          <a:solidFill>
            <a:srgbClr val="B45309"/>
          </a:solidFill>
          <a:ln w="9525">
            <a:solidFill>
              <a:srgbClr val="B45309"/>
            </a:solidFill>
          </a:ln>
        </p:spPr>
        <p:txBody>
          <a:bodyPr lIns="82296" tIns="36576" rIns="82296" bIns="36576" anchor="ctr" wrap="square">
            <a:normAutofit/>
          </a:bodyPr>
          <a:lstStyle/>
          <a:p>
            <a:pPr marL="0" indent="0" algn="ctr">
              <a:buNone/>
            </a:pPr>
            <a:r>
              <a:rPr lang="en-US" sz="720" b="1" dirty="0">
                <a:solidFill>
                  <a:srgbClr val="FFFFFF"/>
                </a:solidFill>
              </a:rPr>
              <a:t>2 upstream blockers · Pending Approval</a:t>
            </a:r>
          </a:p>
        </p:txBody>
      </p:sp>
      <p:sp>
        <p:nvSpPr>
          <p:cNvPr id="563" name="d"/>
          <p:cNvSpPr/>
          <p:nvPr/>
        </p:nvSpPr>
        <p:spPr>
          <a:xfrm>
            <a:off x="8426176" y="4400000"/>
            <a:ext cx="3008416" cy="600000"/>
          </a:xfrm>
          <a:prstGeom prst="rect">
            <a:avLst/>
          </a:prstGeom>
          <a:noFill/>
          <a:ln>
            <a:noFill/>
          </a:ln>
        </p:spPr>
        <p:txBody>
          <a:bodyPr lIns="0" tIns="0" rIns="0" bIns="0" anchor="t" wrap="square">
            <a:normAutofit/>
          </a:bodyPr>
          <a:lstStyle/>
          <a:p>
            <a:pPr marL="0" indent="0" algn="l">
              <a:buNone/>
            </a:pPr>
            <a:r>
              <a:rPr lang="en-US" sz="780" b="0" dirty="0">
                <a:solidFill>
                  <a:srgbClr val="5E6784"/>
                </a:solidFill>
              </a:rPr>
              <a:t>Two approvals, named, with the issues they are holding up.</a:t>
            </a:r>
          </a:p>
          <a:p>
            <a:pPr marL="0" indent="0" algn="l">
              <a:spcBef>
                <a:spcPts val="170"/>
              </a:spcBef>
              <a:buNone/>
            </a:pPr>
            <a:r>
              <a:rPr lang="en-US" sz="780" b="1" dirty="0">
                <a:solidFill>
                  <a:srgbClr val="08124F"/>
                </a:solidFill>
              </a:rPr>
              <a:t>The escalation list writes itself.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03 / DEMO</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Conversational, Across the Whole Delivery Lifecycle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One entry point, sixteen specialists behind it. The user simply asks; the orchestrator resolves team, board and sprint once and delegates.</a:t>
            </a:r>
          </a:p>
        </p:txBody>
      </p:sp>
      <p:sp>
        <p:nvSpPr>
          <p:cNvPr id="5" name="Shape 3"/>
          <p:cNvSpPr/>
          <p:nvPr/>
        </p:nvSpPr>
        <p:spPr>
          <a:xfrm>
            <a:off x="566928"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1554480"/>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REFINE &amp; PLAN</a:t>
            </a:r>
          </a:p>
        </p:txBody>
      </p:sp>
      <p:sp>
        <p:nvSpPr>
          <p:cNvPr id="8" name="Text 6"/>
          <p:cNvSpPr/>
          <p:nvPr/>
        </p:nvSpPr>
        <p:spPr>
          <a:xfrm>
            <a:off x="768096"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“Is RBOC-200683 refined enough to work on?”</a:t>
            </a:r>
          </a:p>
          <a:p>
            <a:pPr marL="0" indent="0">
              <a:spcBef>
                <a:spcPts val="420"/>
              </a:spcBef>
              <a:buNone/>
            </a:pPr>
            <a:r>
              <a:rPr lang="en-US" sz="900" b="0" dirty="0">
                <a:solidFill>
                  <a:srgbClr val="172044"/>
                </a:solidFill>
              </a:rPr>
              <a:t>“Generate the stories for this epic.”</a:t>
            </a:r>
          </a:p>
          <a:p>
            <a:pPr marL="0" indent="0">
              <a:spcBef>
                <a:spcPts val="420"/>
              </a:spcBef>
              <a:buNone/>
            </a:pPr>
            <a:r>
              <a:rPr lang="en-US" sz="900" b="0" dirty="0">
                <a:solidFill>
                  <a:srgbClr val="172044"/>
                </a:solidFill>
              </a:rPr>
              <a:t>“Prioritise these tickets and explain the rationale.”  ·  “What is the critical path?”  ·  “Draft a sprint goal for sprint 20.”</a:t>
            </a:r>
          </a:p>
        </p:txBody>
      </p:sp>
      <p:sp>
        <p:nvSpPr>
          <p:cNvPr id="9" name="Text 7"/>
          <p:cNvSpPr/>
          <p:nvPr/>
        </p:nvSpPr>
        <p:spPr>
          <a:xfrm>
            <a:off x="5458968"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01</a:t>
            </a:r>
            <a:endParaRPr lang="en-US" sz="1200" dirty="0"/>
          </a:p>
        </p:txBody>
      </p:sp>
      <p:sp>
        <p:nvSpPr>
          <p:cNvPr id="10" name="Shape 8"/>
          <p:cNvSpPr/>
          <p:nvPr/>
        </p:nvSpPr>
        <p:spPr>
          <a:xfrm>
            <a:off x="6245352" y="1572768"/>
            <a:ext cx="5349240" cy="1554480"/>
          </a:xfrm>
          <a:prstGeom prst="roundRect">
            <a:avLst>
              <a:gd name="adj" fmla="val 7246"/>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6245352" y="1572768"/>
            <a:ext cx="73152" cy="1554480"/>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6446520" y="1728216"/>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SEE RISK EARLY</a:t>
            </a:r>
          </a:p>
        </p:txBody>
      </p:sp>
      <p:sp>
        <p:nvSpPr>
          <p:cNvPr id="13" name="Text 11"/>
          <p:cNvSpPr/>
          <p:nvPr/>
        </p:nvSpPr>
        <p:spPr>
          <a:xfrm>
            <a:off x="6446520" y="2011680"/>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“Which stories are at risk this sprint, and why?”</a:t>
            </a:r>
          </a:p>
          <a:p>
            <a:pPr marL="0" indent="0">
              <a:spcBef>
                <a:spcPts val="420"/>
              </a:spcBef>
              <a:buNone/>
            </a:pPr>
            <a:r>
              <a:rPr lang="en-US" sz="900" b="0" dirty="0">
                <a:solidFill>
                  <a:srgbClr val="172044"/>
                </a:solidFill>
              </a:rPr>
              <a:t>“What dependencies are blocking Team A?”</a:t>
            </a:r>
          </a:p>
          <a:p>
            <a:pPr marL="0" indent="0">
              <a:spcBef>
                <a:spcPts val="420"/>
              </a:spcBef>
              <a:buNone/>
            </a:pPr>
            <a:r>
              <a:rPr lang="en-US" sz="900" b="0" dirty="0">
                <a:solidFill>
                  <a:srgbClr val="172044"/>
                </a:solidFill>
              </a:rPr>
              <a:t>“Are we tracking to plan — what changed since sprint start?” Original commitment is reconstructed from Jira changelogs, so scope creep becomes provable.</a:t>
            </a:r>
          </a:p>
        </p:txBody>
      </p:sp>
      <p:sp>
        <p:nvSpPr>
          <p:cNvPr id="14" name="Text 12"/>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02</a:t>
            </a:r>
            <a:endParaRPr lang="en-US" sz="1200" dirty="0"/>
          </a:p>
        </p:txBody>
      </p:sp>
      <p:sp>
        <p:nvSpPr>
          <p:cNvPr id="15" name="Shape 13"/>
          <p:cNvSpPr/>
          <p:nvPr/>
        </p:nvSpPr>
        <p:spPr>
          <a:xfrm>
            <a:off x="566928"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566928" y="3273552"/>
            <a:ext cx="73152" cy="1554480"/>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768096"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PLAN CAPACITY HONESTLY</a:t>
            </a:r>
          </a:p>
        </p:txBody>
      </p:sp>
      <p:sp>
        <p:nvSpPr>
          <p:cNvPr id="18" name="Text 16"/>
          <p:cNvSpPr/>
          <p:nvPr/>
        </p:nvSpPr>
        <p:spPr>
          <a:xfrm>
            <a:off x="768096"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“What is the capacity of OneXP Alpha for sprint 21?”  ·  “Who is on leave, and does the team have QA coverage?”</a:t>
            </a:r>
          </a:p>
          <a:p>
            <a:pPr marL="0" indent="0">
              <a:spcBef>
                <a:spcPts val="420"/>
              </a:spcBef>
              <a:buNone/>
            </a:pPr>
            <a:r>
              <a:rPr lang="en-US" sz="900" b="0" dirty="0">
                <a:solidFill>
                  <a:srgbClr val="172044"/>
                </a:solidFill>
              </a:rPr>
              <a:t>Leave, holiday and ceremony calendars are read fresh on every run. Leave that cannot be attributed to a named roster member is surfaced, never silently deducted — and with no roster, it refuses to produce a number at all.</a:t>
            </a:r>
          </a:p>
        </p:txBody>
      </p:sp>
      <p:sp>
        <p:nvSpPr>
          <p:cNvPr id="19" name="Text 17"/>
          <p:cNvSpPr/>
          <p:nvPr/>
        </p:nvSpPr>
        <p:spPr>
          <a:xfrm>
            <a:off x="5458968" y="3401568"/>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6245352" y="3273552"/>
            <a:ext cx="5349240" cy="1554480"/>
          </a:xfrm>
          <a:prstGeom prst="roundRect">
            <a:avLst>
              <a:gd name="adj" fmla="val 6173"/>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21" name="Shape 19"/>
          <p:cNvSpPr/>
          <p:nvPr/>
        </p:nvSpPr>
        <p:spPr>
          <a:xfrm>
            <a:off x="6245352" y="3273552"/>
            <a:ext cx="73152" cy="1554480"/>
          </a:xfrm>
          <a:prstGeom prst="rect">
            <a:avLst/>
          </a:prstGeom>
          <a:solidFill>
            <a:srgbClr val="38B27B"/>
          </a:solidFill>
          <a:ln w="12700">
            <a:solidFill>
              <a:srgbClr val="38B27B"/>
            </a:solidFill>
            <a:prstDash val="solid"/>
          </a:ln>
        </p:spPr>
        <p:txBody>
          <a:bodyPr/>
          <a:lstStyle/>
          <a:p>
            <a:endParaRPr lang="en-US"/>
          </a:p>
        </p:txBody>
      </p:sp>
      <p:sp>
        <p:nvSpPr>
          <p:cNvPr id="22" name="Text 20"/>
          <p:cNvSpPr/>
          <p:nvPr/>
        </p:nvSpPr>
        <p:spPr>
          <a:xfrm>
            <a:off x="6446520" y="3429000"/>
            <a:ext cx="498348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START &amp; CLOSE SPRINTS</a:t>
            </a:r>
          </a:p>
        </p:txBody>
      </p:sp>
      <p:sp>
        <p:nvSpPr>
          <p:cNvPr id="23" name="Text 21"/>
          <p:cNvSpPr/>
          <p:nvPr/>
        </p:nvSpPr>
        <p:spPr>
          <a:xfrm>
            <a:off x="6446520" y="3712464"/>
            <a:ext cx="4965192" cy="1005840"/>
          </a:xfrm>
          <a:prstGeom prst="rect">
            <a:avLst/>
          </a:prstGeom>
          <a:noFill/>
          <a:ln/>
        </p:spPr>
        <p:txBody>
          <a:bodyPr wrap="square" lIns="381" tIns="381" rIns="381" bIns="381" rtlCol="0" anchor="t">
            <a:normAutofit/>
          </a:bodyPr>
          <a:lstStyle/>
          <a:p>
            <a:pPr marL="0" indent="0">
              <a:buNone/>
            </a:pPr>
            <a:r>
              <a:rPr lang="en-US" sz="900" b="0" dirty="0">
                <a:solidFill>
                  <a:srgbClr val="172044"/>
                </a:solidFill>
              </a:rPr>
              <a:t>“Is sprint 20 ready to start?” — the 19-item Definition of Ready and real capacity combined, because a sprint of perfect tickets nobody is available to build is not ready.</a:t>
            </a:r>
          </a:p>
          <a:p>
            <a:pPr marL="0" indent="0">
              <a:spcBef>
                <a:spcPts val="420"/>
              </a:spcBef>
              <a:buNone/>
            </a:pPr>
            <a:r>
              <a:rPr lang="en-US" sz="900" b="0" dirty="0">
                <a:solidFill>
                  <a:srgbClr val="172044"/>
                </a:solidFill>
              </a:rPr>
              <a:t>“Can we close sprint 20?” — separates genuinely done, honestly unfinished, and sitting in a Done column while failing a blocking Definition of Done item. Only the third blocks closure.</a:t>
            </a:r>
          </a:p>
        </p:txBody>
      </p:sp>
      <p:sp>
        <p:nvSpPr>
          <p:cNvPr id="24" name="Text 22"/>
          <p:cNvSpPr/>
          <p:nvPr/>
        </p:nvSpPr>
        <p:spPr>
          <a:xfrm>
            <a:off x="11137392" y="3401568"/>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04</a:t>
            </a:r>
            <a:endParaRPr lang="en-US" sz="1200" dirty="0"/>
          </a:p>
        </p:txBody>
      </p:sp>
      <p:sp>
        <p:nvSpPr>
          <p:cNvPr id="25" name="Shape 23"/>
          <p:cNvSpPr/>
          <p:nvPr/>
        </p:nvSpPr>
        <p:spPr>
          <a:xfrm>
            <a:off x="566928" y="5120640"/>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6" name="Text 24"/>
          <p:cNvSpPr/>
          <p:nvPr/>
        </p:nvSpPr>
        <p:spPr>
          <a:xfrm>
            <a:off x="566928" y="5184648"/>
            <a:ext cx="1271016" cy="146304"/>
          </a:xfrm>
          <a:prstGeom prst="rect">
            <a:avLst/>
          </a:prstGeom>
          <a:noFill/>
          <a:ln/>
        </p:spPr>
        <p:txBody>
          <a:bodyPr wrap="square" lIns="0" tIns="0" rIns="0" bIns="0" rtlCol="0" anchor="ctr"/>
          <a:lstStyle/>
          <a:p>
            <a:pPr marL="0" indent="0" algn="ctr">
              <a:buNone/>
            </a:pPr>
            <a:r>
              <a:rPr lang="en-US" sz="850" b="0" dirty="0">
                <a:solidFill>
                  <a:srgbClr val="2E6AF6"/>
                </a:solidFill>
              </a:rPr>
              <a:t>ONE MORE</a:t>
            </a:r>
          </a:p>
        </p:txBody>
      </p:sp>
      <p:sp>
        <p:nvSpPr>
          <p:cNvPr id="27" name="Text 25"/>
          <p:cNvSpPr/>
          <p:nvPr/>
        </p:nvSpPr>
        <p:spPr>
          <a:xfrm>
            <a:off x="1933575" y="5175504"/>
            <a:ext cx="6492240" cy="219456"/>
          </a:xfrm>
          <a:prstGeom prst="rect">
            <a:avLst/>
          </a:prstGeom>
          <a:noFill/>
          <a:ln/>
        </p:spPr>
        <p:txBody>
          <a:bodyPr wrap="square" lIns="0" tIns="0" rIns="0" bIns="0" rtlCol="0" anchor="ctr"/>
          <a:lstStyle/>
          <a:p>
            <a:pPr marL="0" indent="0">
              <a:buNone/>
            </a:pPr>
            <a:r>
              <a:rPr lang="en-US" sz="950" b="0" dirty="0">
                <a:solidFill>
                  <a:srgbClr val="5E6784"/>
                </a:solidFill>
              </a:rPr>
              <a:t>“Give me my morning brief” — every team a Product Owner owns, ranked by a published urgency formula and diffed against the previous run.</a:t>
            </a:r>
          </a:p>
        </p:txBody>
      </p:sp>
      <p:sp>
        <p:nvSpPr>
          <p:cNvPr id="28"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04 / IMPACT</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Impact &amp; Future Scope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Value stated as a model with its assumptions, so it can be challenged — alongside the facts we can already prove.</a:t>
            </a:r>
          </a:p>
        </p:txBody>
      </p:sp>
      <p:sp>
        <p:nvSpPr>
          <p:cNvPr id="5" name="Shape 3"/>
          <p:cNvSpPr/>
          <p:nvPr/>
        </p:nvSpPr>
        <p:spPr>
          <a:xfrm>
            <a:off x="566928" y="1572768"/>
            <a:ext cx="3703320" cy="2286000"/>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572768"/>
            <a:ext cx="73152" cy="2286000"/>
          </a:xfrm>
          <a:prstGeom prst="rect">
            <a:avLst/>
          </a:prstGeom>
          <a:solidFill>
            <a:srgbClr val="38B27B"/>
          </a:solidFill>
          <a:ln w="12700">
            <a:solidFill>
              <a:srgbClr val="38B27B"/>
            </a:solidFill>
            <a:prstDash val="solid"/>
          </a:ln>
        </p:spPr>
        <p:txBody>
          <a:bodyPr/>
          <a:lstStyle/>
          <a:p>
            <a:endParaRPr lang="en-US"/>
          </a:p>
        </p:txBody>
      </p:sp>
      <p:sp>
        <p:nvSpPr>
          <p:cNvPr id="7" name="Text 5"/>
          <p:cNvSpPr/>
          <p:nvPr/>
        </p:nvSpPr>
        <p:spPr>
          <a:xfrm>
            <a:off x="768096" y="1728216"/>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BUSINESS IMPACT</a:t>
            </a:r>
          </a:p>
        </p:txBody>
      </p:sp>
      <p:sp>
        <p:nvSpPr>
          <p:cNvPr id="8" name="Text 6"/>
          <p:cNvSpPr/>
          <p:nvPr/>
        </p:nvSpPr>
        <p:spPr>
          <a:xfrm>
            <a:off x="768096" y="2011680"/>
            <a:ext cx="3319272" cy="1760000"/>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Proven today: 22 stages automated end to end, 367 engine tests passing, and 0 Jira writes possible without an explicit per-item approval.</a:t>
            </a:r>
          </a:p>
          <a:p>
            <a:pPr marL="144000" indent="-144000">
              <a:spcBef>
                <a:spcPts val="420"/>
              </a:spcBef>
              <a:buFont typeface="Arial"/>
              <a:buChar char="•"/>
            </a:pPr>
            <a:r>
              <a:rPr lang="en-US" sz="880" b="0" dirty="0">
                <a:solidFill>
                  <a:srgbClr val="172044"/>
                </a:solidFill>
              </a:rPr>
              <a:t>Target 30–50% less refinement effort — designed to be measured from persisted run data, not asserted. At roughly 10 hours of senior time per team per sprint spent on refinement, readiness, dependency chasing and status reporting, that is 3–5 hours back per team per sprint.</a:t>
            </a:r>
          </a:p>
          <a:p>
            <a:pPr marL="144000" indent="-144000">
              <a:spcBef>
                <a:spcPts val="420"/>
              </a:spcBef>
              <a:buFont typeface="Arial"/>
              <a:buChar char="•"/>
            </a:pPr>
            <a:r>
              <a:rPr lang="en-US" sz="880" b="0" dirty="0">
                <a:solidFill>
                  <a:srgbClr val="172044"/>
                </a:solidFill>
              </a:rPr>
              <a:t>Readiness, risk and confidence are scored identically every run, so delivery health becomes a trend rather than an opinion.</a:t>
            </a:r>
          </a:p>
          <a:p>
            <a:pPr marL="144000" indent="-144000">
              <a:spcBef>
                <a:spcPts val="420"/>
              </a:spcBef>
              <a:buFont typeface="Arial"/>
              <a:buChar char="•"/>
            </a:pPr>
            <a:r>
              <a:rPr lang="en-US" sz="880" b="0" dirty="0">
                <a:solidFill>
                  <a:srgbClr val="172044"/>
                </a:solidFill>
              </a:rPr>
              <a:t>The larger prize is avoided spillover: a blocker escalated on planning day instead of at the review saves days, not hours.</a:t>
            </a:r>
          </a:p>
        </p:txBody>
      </p:sp>
      <p:sp>
        <p:nvSpPr>
          <p:cNvPr id="9" name="Text 7"/>
          <p:cNvSpPr/>
          <p:nvPr/>
        </p:nvSpPr>
        <p:spPr>
          <a:xfrm>
            <a:off x="3813048" y="1700784"/>
            <a:ext cx="228600" cy="228600"/>
          </a:xfrm>
          <a:prstGeom prst="rect">
            <a:avLst/>
          </a:prstGeom>
          <a:noFill/>
          <a:ln/>
        </p:spPr>
        <p:txBody>
          <a:bodyPr wrap="square" lIns="0" tIns="0" rIns="0" bIns="0" rtlCol="0" anchor="ctr"/>
          <a:lstStyle/>
          <a:p>
            <a:pPr marL="0" indent="0" algn="ctr">
              <a:buNone/>
            </a:pPr>
            <a:r>
              <a:rPr lang="en-US" sz="1200" b="1" dirty="0">
                <a:solidFill>
                  <a:srgbClr val="38B27B"/>
                </a:solidFill>
              </a:rPr>
              <a:t>01</a:t>
            </a:r>
            <a:endParaRPr lang="en-US" sz="1200" dirty="0"/>
          </a:p>
        </p:txBody>
      </p:sp>
      <p:sp>
        <p:nvSpPr>
          <p:cNvPr id="10" name="Shape 8"/>
          <p:cNvSpPr/>
          <p:nvPr/>
        </p:nvSpPr>
        <p:spPr>
          <a:xfrm>
            <a:off x="4425696" y="1572768"/>
            <a:ext cx="3703320" cy="2286000"/>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25696" y="1572768"/>
            <a:ext cx="73152" cy="2286000"/>
          </a:xfrm>
          <a:prstGeom prst="rect">
            <a:avLst/>
          </a:prstGeom>
          <a:solidFill>
            <a:srgbClr val="2E6AF6"/>
          </a:solidFill>
          <a:ln w="12700">
            <a:solidFill>
              <a:srgbClr val="2E6AF6"/>
            </a:solidFill>
            <a:prstDash val="solid"/>
          </a:ln>
        </p:spPr>
        <p:txBody>
          <a:bodyPr/>
          <a:lstStyle/>
          <a:p>
            <a:endParaRPr lang="en-US"/>
          </a:p>
        </p:txBody>
      </p:sp>
      <p:sp>
        <p:nvSpPr>
          <p:cNvPr id="12" name="Text 10"/>
          <p:cNvSpPr/>
          <p:nvPr/>
        </p:nvSpPr>
        <p:spPr>
          <a:xfrm>
            <a:off x="4626864" y="1728216"/>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USE CASES &amp; MARKET POTENTIAL</a:t>
            </a:r>
          </a:p>
        </p:txBody>
      </p:sp>
      <p:sp>
        <p:nvSpPr>
          <p:cNvPr id="13" name="Text 11"/>
          <p:cNvSpPr/>
          <p:nvPr/>
        </p:nvSpPr>
        <p:spPr>
          <a:xfrm>
            <a:off x="4626864" y="2011680"/>
            <a:ext cx="3319272" cy="1760000"/>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Any NIQ team already on Jira — 56 teams and 638 people are in the roster today, with no migration and no new service to run.</a:t>
            </a:r>
          </a:p>
          <a:p>
            <a:pPr marL="144000" indent="-144000">
              <a:spcBef>
                <a:spcPts val="420"/>
              </a:spcBef>
              <a:buFont typeface="Arial"/>
              <a:buChar char="•"/>
            </a:pPr>
            <a:r>
              <a:rPr lang="en-US" sz="880" b="0" dirty="0">
                <a:solidFill>
                  <a:srgbClr val="172044"/>
                </a:solidFill>
              </a:rPr>
              <a:t>Adjacent uses: release go/no-go reviews, QA test planning and coverage audits, audit and compliance evidence, onboarding a new Product Owner onto an unfamiliar backlog, and portfolio reporting for engineering leadership.</a:t>
            </a:r>
          </a:p>
          <a:p>
            <a:pPr marL="144000" indent="-144000">
              <a:spcBef>
                <a:spcPts val="420"/>
              </a:spcBef>
              <a:buFont typeface="Arial"/>
              <a:buChar char="•"/>
            </a:pPr>
            <a:r>
              <a:rPr lang="en-US" sz="880" b="0" dirty="0">
                <a:solidFill>
                  <a:srgbClr val="172044"/>
                </a:solidFill>
              </a:rPr>
              <a:t>Tracker-agnostic by construction: ports and adapters make Azure DevOps or Rally an adapter, not a rewrite.</a:t>
            </a:r>
          </a:p>
          <a:p>
            <a:pPr marL="144000" indent="-144000">
              <a:spcBef>
                <a:spcPts val="420"/>
              </a:spcBef>
              <a:buFont typeface="Arial"/>
              <a:buChar char="•"/>
            </a:pPr>
            <a:r>
              <a:rPr lang="en-US" sz="880" b="0" dirty="0">
                <a:solidFill>
                  <a:srgbClr val="172044"/>
                </a:solidFill>
              </a:rPr>
              <a:t>The same pattern — evidence, deterministic scoring, gated writes — transfers to any workflow where an AI proposes changes to a system of record.</a:t>
            </a:r>
          </a:p>
        </p:txBody>
      </p:sp>
      <p:sp>
        <p:nvSpPr>
          <p:cNvPr id="14" name="Text 12"/>
          <p:cNvSpPr/>
          <p:nvPr/>
        </p:nvSpPr>
        <p:spPr>
          <a:xfrm>
            <a:off x="7671816" y="1700784"/>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02</a:t>
            </a:r>
            <a:endParaRPr lang="en-US" sz="1200" dirty="0"/>
          </a:p>
        </p:txBody>
      </p:sp>
      <p:sp>
        <p:nvSpPr>
          <p:cNvPr id="15" name="Shape 13"/>
          <p:cNvSpPr/>
          <p:nvPr/>
        </p:nvSpPr>
        <p:spPr>
          <a:xfrm>
            <a:off x="8284464" y="1572768"/>
            <a:ext cx="3310128" cy="2286000"/>
          </a:xfrm>
          <a:prstGeom prst="roundRect">
            <a:avLst>
              <a:gd name="adj" fmla="val 4310"/>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84464" y="1572768"/>
            <a:ext cx="73152" cy="2286000"/>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85632" y="1728216"/>
            <a:ext cx="2944368"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NEXT STEPS</a:t>
            </a:r>
          </a:p>
        </p:txBody>
      </p:sp>
      <p:sp>
        <p:nvSpPr>
          <p:cNvPr id="18" name="Text 16"/>
          <p:cNvSpPr/>
          <p:nvPr/>
        </p:nvSpPr>
        <p:spPr>
          <a:xfrm>
            <a:off x="8485632" y="2011680"/>
            <a:ext cx="2926080" cy="1760000"/>
          </a:xfrm>
          <a:prstGeom prst="rect">
            <a:avLst/>
          </a:prstGeom>
          <a:noFill/>
          <a:ln/>
        </p:spPr>
        <p:txBody>
          <a:bodyPr wrap="square" lIns="381" tIns="381" rIns="381" bIns="381" rtlCol="0" anchor="t">
            <a:normAutofit/>
          </a:bodyPr>
          <a:lstStyle/>
          <a:p>
            <a:pPr marL="0" indent="0">
              <a:buNone/>
            </a:pPr>
            <a:r>
              <a:rPr lang="en-US" sz="880" b="0" dirty="0">
                <a:solidFill>
                  <a:srgbClr val="172044"/>
                </a:solidFill>
              </a:rPr>
              <a:t>1. Replace the fixture context provider and mock writer with live retrieval and a sandbox Jira project.</a:t>
            </a:r>
          </a:p>
          <a:p>
            <a:pPr marL="0" indent="0">
              <a:spcBef>
                <a:spcPts val="420"/>
              </a:spcBef>
              <a:buNone/>
            </a:pPr>
            <a:r>
              <a:rPr lang="en-US" sz="880" b="0" dirty="0">
                <a:solidFill>
                  <a:srgbClr val="172044"/>
                </a:solidFill>
              </a:rPr>
              <a:t>2. Pilot with 2–3 teams for a quarter, baselining first, then measuring refinement hours per epic, % of epics NOT_READY at planning, spillover %, estimate accuracy and time-to-escalation.</a:t>
            </a:r>
          </a:p>
          <a:p>
            <a:pPr marL="0" indent="0">
              <a:spcBef>
                <a:spcPts val="420"/>
              </a:spcBef>
              <a:buNone/>
            </a:pPr>
            <a:r>
              <a:rPr lang="en-US" sz="880" b="0" dirty="0">
                <a:solidFill>
                  <a:srgbClr val="172044"/>
                </a:solidFill>
              </a:rPr>
              <a:t>3. Calibrate focus factor and scoring weights from observed history instead of configured constants.</a:t>
            </a:r>
          </a:p>
          <a:p>
            <a:pPr marL="0" indent="0">
              <a:spcBef>
                <a:spcPts val="420"/>
              </a:spcBef>
              <a:buNone/>
            </a:pPr>
            <a:r>
              <a:rPr lang="en-US" sz="880" b="0" dirty="0">
                <a:solidFill>
                  <a:srgbClr val="172044"/>
                </a:solidFill>
              </a:rPr>
              <a:t>4. Then: test-management upload, scheduled portfolio briefs and longer-run trend analytics.</a:t>
            </a:r>
          </a:p>
        </p:txBody>
      </p:sp>
      <p:sp>
        <p:nvSpPr>
          <p:cNvPr id="19" name="Text 17"/>
          <p:cNvSpPr/>
          <p:nvPr/>
        </p:nvSpPr>
        <p:spPr>
          <a:xfrm>
            <a:off x="11137392" y="1700784"/>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03</a:t>
            </a:r>
            <a:endParaRPr lang="en-US" sz="1200" dirty="0"/>
          </a:p>
        </p:txBody>
      </p:sp>
      <p:sp>
        <p:nvSpPr>
          <p:cNvPr id="20" name="Shape 18"/>
          <p:cNvSpPr/>
          <p:nvPr/>
        </p:nvSpPr>
        <p:spPr>
          <a:xfrm>
            <a:off x="566928" y="3977640"/>
            <a:ext cx="11027664" cy="1600200"/>
          </a:xfrm>
          <a:prstGeom prst="roundRect">
            <a:avLst>
              <a:gd name="adj" fmla="val 5970"/>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822960" y="4120000"/>
            <a:ext cx="1508760" cy="201168"/>
          </a:xfrm>
          <a:prstGeom prst="rect">
            <a:avLst/>
          </a:prstGeom>
          <a:noFill/>
          <a:ln/>
        </p:spPr>
        <p:txBody>
          <a:bodyPr wrap="square" lIns="0" tIns="0" rIns="0" bIns="0" rtlCol="0" anchor="ctr"/>
          <a:lstStyle/>
          <a:p>
            <a:pPr marL="0" indent="0">
              <a:buNone/>
            </a:pPr>
            <a:r>
              <a:rPr lang="en-US" sz="850" b="0" dirty="0">
                <a:solidFill>
                  <a:srgbClr val="A9BFFF"/>
                </a:solidFill>
              </a:rPr>
              <a:t>TEAM &amp; ROLES</a:t>
            </a:r>
          </a:p>
        </p:txBody>
      </p:sp>
      <p:sp>
        <p:nvSpPr>
          <p:cNvPr id="22" name="Text 20"/>
          <p:cNvSpPr/>
          <p:nvPr/>
        </p:nvSpPr>
        <p:spPr>
          <a:xfrm>
            <a:off x="2240280" y="4090000"/>
            <a:ext cx="3886200" cy="310896"/>
          </a:xfrm>
          <a:prstGeom prst="rect">
            <a:avLst/>
          </a:prstGeom>
          <a:noFill/>
          <a:ln/>
        </p:spPr>
        <p:txBody>
          <a:bodyPr wrap="square" lIns="0" tIns="0" rIns="0" bIns="0" rtlCol="0" anchor="ctr"/>
          <a:lstStyle/>
          <a:p>
            <a:pPr marL="0" indent="0">
              <a:buNone/>
            </a:pPr>
            <a:r>
              <a:rPr lang="en-US" sz="1500" b="1" dirty="0">
                <a:solidFill>
                  <a:srgbClr val="FFFFFF"/>
                </a:solidFill>
              </a:rPr>
              <a:t>Team Alchemist  •  NIQ</a:t>
            </a:r>
          </a:p>
        </p:txBody>
      </p:sp>
      <p:sp>
        <p:nvSpPr>
          <p:cNvPr id="23" name="Text 21"/>
          <p:cNvSpPr/>
          <p:nvPr/>
        </p:nvSpPr>
        <p:spPr>
          <a:xfrm>
            <a:off x="2240280" y="4430000"/>
            <a:ext cx="7818120" cy="1050000"/>
          </a:xfrm>
          <a:prstGeom prst="rect">
            <a:avLst/>
          </a:prstGeom>
          <a:noFill/>
          <a:ln/>
        </p:spPr>
        <p:txBody>
          <a:bodyPr wrap="square" lIns="0" tIns="0" rIns="0" bIns="0" rtlCol="0" anchor="t">
            <a:normAutofit/>
          </a:bodyPr>
          <a:lstStyle/>
          <a:p>
            <a:pPr marL="0" indent="0">
              <a:buNone/>
            </a:pPr>
            <a:r>
              <a:rPr lang="en-US" sz="950" b="0" dirty="0">
                <a:solidFill>
                  <a:srgbClr val="E5E9F7"/>
                </a:solidFill>
              </a:rPr>
              <a:t>Deepak Kolare  —  Team Lead</a:t>
            </a:r>
          </a:p>
          <a:p>
            <a:pPr marL="0" indent="0">
              <a:spcBef>
                <a:spcPts val="180"/>
              </a:spcBef>
              <a:buNone/>
            </a:pPr>
            <a:r>
              <a:rPr lang="en-US" sz="950" b="0" dirty="0">
                <a:solidFill>
                  <a:srgbClr val="E5E9F7"/>
                </a:solidFill>
              </a:rPr>
              <a:t>Giim Horng Tung  —  Member</a:t>
            </a:r>
          </a:p>
          <a:p>
            <a:pPr marL="0" indent="0">
              <a:spcBef>
                <a:spcPts val="180"/>
              </a:spcBef>
              <a:buNone/>
            </a:pPr>
            <a:r>
              <a:rPr lang="en-US" sz="950" b="0" dirty="0">
                <a:solidFill>
                  <a:srgbClr val="E5E9F7"/>
                </a:solidFill>
              </a:rPr>
              <a:t>Isaac Lee  —  Member</a:t>
            </a:r>
          </a:p>
          <a:p>
            <a:pPr marL="0" indent="0">
              <a:spcBef>
                <a:spcPts val="180"/>
              </a:spcBef>
              <a:buNone/>
            </a:pPr>
            <a:r>
              <a:rPr lang="en-US" sz="950" b="0" dirty="0">
                <a:solidFill>
                  <a:srgbClr val="E5E9F7"/>
                </a:solidFill>
              </a:rPr>
              <a:t>Gavin Ong  —  Member</a:t>
            </a:r>
          </a:p>
          <a:p>
            <a:pPr marL="0" indent="0">
              <a:spcBef>
                <a:spcPts val="180"/>
              </a:spcBef>
              <a:buNone/>
            </a:pPr>
            <a:r>
              <a:rPr lang="en-US" sz="950" b="0" dirty="0">
                <a:solidFill>
                  <a:srgbClr val="E5E9F7"/>
                </a:solidFill>
              </a:rPr>
              <a:t>Rasika Kulkarni  —  Member</a:t>
            </a:r>
          </a:p>
        </p:txBody>
      </p:sp>
      <p:sp>
        <p:nvSpPr>
          <p:cNvPr id="24" name="Shape 22"/>
          <p:cNvSpPr/>
          <p:nvPr/>
        </p:nvSpPr>
        <p:spPr>
          <a:xfrm>
            <a:off x="10012680" y="4120000"/>
            <a:ext cx="1271016" cy="310896"/>
          </a:xfrm>
          <a:prstGeom prst="roundRect">
            <a:avLst>
              <a:gd name="adj" fmla="val 23529"/>
            </a:avLst>
          </a:prstGeom>
          <a:solidFill>
            <a:srgbClr val="DCE8FF"/>
          </a:solidFill>
          <a:ln w="12700">
            <a:solidFill>
              <a:srgbClr val="DCE8FF"/>
            </a:solidFill>
            <a:prstDash val="solid"/>
          </a:ln>
        </p:spPr>
        <p:txBody>
          <a:bodyPr/>
          <a:lstStyle/>
          <a:p>
            <a:endParaRPr lang="en-US"/>
          </a:p>
        </p:txBody>
      </p:sp>
      <p:sp>
        <p:nvSpPr>
          <p:cNvPr id="25" name="Text 23"/>
          <p:cNvSpPr/>
          <p:nvPr/>
        </p:nvSpPr>
        <p:spPr>
          <a:xfrm>
            <a:off x="10012680" y="4184000"/>
            <a:ext cx="1271016" cy="146304"/>
          </a:xfrm>
          <a:prstGeom prst="rect">
            <a:avLst/>
          </a:prstGeom>
          <a:noFill/>
          <a:ln/>
        </p:spPr>
        <p:txBody>
          <a:bodyPr wrap="square" lIns="0" tIns="0" rIns="0" bIns="0" rtlCol="0" anchor="ctr"/>
          <a:lstStyle/>
          <a:p>
            <a:pPr marL="0" indent="0" algn="ctr">
              <a:buNone/>
            </a:pPr>
            <a:r>
              <a:rPr lang="en-US" sz="850" b="1" dirty="0">
                <a:solidFill>
                  <a:srgbClr val="2E6AF6"/>
                </a:solidFill>
              </a:rPr>
              <a:t>READY TO PITCH</a:t>
            </a:r>
            <a:endParaRPr lang="en-US" sz="850" dirty="0"/>
          </a:p>
        </p:txBody>
      </p:sp>
      <p:sp>
        <p:nvSpPr>
          <p:cNvPr id="26"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5</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420624"/>
            <a:ext cx="2468880" cy="201168"/>
          </a:xfrm>
          <a:prstGeom prst="rect">
            <a:avLst/>
          </a:prstGeom>
          <a:noFill/>
          <a:ln/>
        </p:spPr>
        <p:txBody>
          <a:bodyPr wrap="square" lIns="0" tIns="0" rIns="0" bIns="0" rtlCol="0" anchor="ctr"/>
          <a:lstStyle/>
          <a:p>
            <a:pPr marL="0" indent="0">
              <a:buNone/>
            </a:pPr>
            <a:r>
              <a:rPr lang="en-US" sz="900" b="0" dirty="0">
                <a:solidFill>
                  <a:srgbClr val="2E6AF6"/>
                </a:solidFill>
              </a:rPr>
              <a:t>04 / IMPACT</a:t>
            </a:r>
          </a:p>
        </p:txBody>
      </p:sp>
      <p:sp>
        <p:nvSpPr>
          <p:cNvPr id="3" name="Text 1"/>
          <p:cNvSpPr/>
          <p:nvPr/>
        </p:nvSpPr>
        <p:spPr>
          <a:xfrm>
            <a:off x="566928" y="621792"/>
            <a:ext cx="9875520" cy="420624"/>
          </a:xfrm>
          <a:prstGeom prst="rect">
            <a:avLst/>
          </a:prstGeom>
          <a:noFill/>
          <a:ln/>
        </p:spPr>
        <p:txBody>
          <a:bodyPr wrap="square" lIns="0" tIns="0" rIns="0" bIns="0" rtlCol="0" anchor="ctr">
            <a:normAutofit/>
          </a:bodyPr>
          <a:lstStyle/>
          <a:p>
            <a:pPr marL="0" indent="0">
              <a:buNone/>
            </a:pPr>
            <a:r>
              <a:rPr lang="en-US" sz="2700" b="0" dirty="0">
                <a:solidFill>
                  <a:srgbClr val="08124F"/>
                </a:solidFill>
              </a:rPr>
              <a:t>Implemented, Configured, and Deliberately Out of Scope</a:t>
            </a:r>
          </a:p>
        </p:txBody>
      </p:sp>
      <p:sp>
        <p:nvSpPr>
          <p:cNvPr id="4" name="Text 2"/>
          <p:cNvSpPr/>
          <p:nvPr/>
        </p:nvSpPr>
        <p:spPr>
          <a:xfrm>
            <a:off x="566928" y="1078992"/>
            <a:ext cx="10515600" cy="274320"/>
          </a:xfrm>
          <a:prstGeom prst="rect">
            <a:avLst/>
          </a:prstGeom>
          <a:noFill/>
          <a:ln/>
        </p:spPr>
        <p:txBody>
          <a:bodyPr wrap="square" lIns="0" tIns="0" rIns="0" bIns="0" rtlCol="0" anchor="ctr">
            <a:normAutofit/>
          </a:bodyPr>
          <a:lstStyle/>
          <a:p>
            <a:pPr marL="0" indent="0">
              <a:buNone/>
            </a:pPr>
            <a:r>
              <a:rPr lang="en-US" sz="1050" b="0" dirty="0">
                <a:solidFill>
                  <a:srgbClr val="5E6784"/>
                </a:solidFill>
              </a:rPr>
              <a:t>Every capability is labelled in the repository. Nothing here is claimed on the strength of an interface.</a:t>
            </a:r>
          </a:p>
        </p:txBody>
      </p:sp>
      <p:sp>
        <p:nvSpPr>
          <p:cNvPr id="5" name="Shape 3"/>
          <p:cNvSpPr/>
          <p:nvPr/>
        </p:nvSpPr>
        <p:spPr>
          <a:xfrm>
            <a:off x="566928"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6" name="Shape 4"/>
          <p:cNvSpPr/>
          <p:nvPr/>
        </p:nvSpPr>
        <p:spPr>
          <a:xfrm>
            <a:off x="566928" y="1600200"/>
            <a:ext cx="73152" cy="3401568"/>
          </a:xfrm>
          <a:prstGeom prst="rect">
            <a:avLst/>
          </a:prstGeom>
          <a:solidFill>
            <a:srgbClr val="2E6AF6"/>
          </a:solidFill>
          <a:ln w="12700">
            <a:solidFill>
              <a:srgbClr val="2E6AF6"/>
            </a:solidFill>
            <a:prstDash val="solid"/>
          </a:ln>
        </p:spPr>
        <p:txBody>
          <a:bodyPr/>
          <a:lstStyle/>
          <a:p>
            <a:endParaRPr lang="en-US"/>
          </a:p>
        </p:txBody>
      </p:sp>
      <p:sp>
        <p:nvSpPr>
          <p:cNvPr id="7" name="Text 5"/>
          <p:cNvSpPr/>
          <p:nvPr/>
        </p:nvSpPr>
        <p:spPr>
          <a:xfrm>
            <a:off x="768096"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IMPLEMENTED &amp; TESTED</a:t>
            </a:r>
          </a:p>
        </p:txBody>
      </p:sp>
      <p:sp>
        <p:nvSpPr>
          <p:cNvPr id="8" name="Text 6"/>
          <p:cNvSpPr/>
          <p:nvPr/>
        </p:nvSpPr>
        <p:spPr>
          <a:xfrm>
            <a:off x="768096" y="2039112"/>
            <a:ext cx="3319272"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22-stage coordinator with pause, resume, recorded skip reasons and an audit trail</a:t>
            </a:r>
          </a:p>
          <a:p>
            <a:pPr marL="144000" indent="-144000">
              <a:spcBef>
                <a:spcPts val="420"/>
              </a:spcBef>
              <a:buFont typeface="Arial"/>
              <a:buChar char="•"/>
            </a:pPr>
            <a:r>
              <a:rPr lang="en-US" sz="880" b="0" dirty="0">
                <a:solidFill>
                  <a:srgbClr val="172044"/>
                </a:solidFill>
              </a:rPr>
              <a:t>Readiness, coverage, dependency, ownership, estimation, proposal, approval and execution engine</a:t>
            </a:r>
          </a:p>
          <a:p>
            <a:pPr marL="144000" indent="-144000">
              <a:spcBef>
                <a:spcPts val="420"/>
              </a:spcBef>
              <a:buFont typeface="Arial"/>
              <a:buChar char="•"/>
            </a:pPr>
            <a:r>
              <a:rPr lang="en-US" sz="880" b="0" dirty="0">
                <a:solidFill>
                  <a:srgbClr val="172044"/>
                </a:solidFill>
              </a:rPr>
              <a:t>Manual test design, acceptance-criterion coverage, automation candidates and gated Excel export</a:t>
            </a:r>
          </a:p>
          <a:p>
            <a:pPr marL="144000" indent="-144000">
              <a:spcBef>
                <a:spcPts val="420"/>
              </a:spcBef>
              <a:buFont typeface="Arial"/>
              <a:buChar char="•"/>
            </a:pPr>
            <a:r>
              <a:rPr lang="en-US" sz="880" b="0" dirty="0">
                <a:solidFill>
                  <a:srgbClr val="172044"/>
                </a:solidFill>
              </a:rPr>
              <a:t>Sprint capacity, closure against the Definition of Done, prioritisation, sequencing and critical path</a:t>
            </a:r>
          </a:p>
          <a:p>
            <a:pPr marL="144000" indent="-144000">
              <a:spcBef>
                <a:spcPts val="420"/>
              </a:spcBef>
              <a:buFont typeface="Arial"/>
              <a:buChar char="•"/>
            </a:pPr>
            <a:r>
              <a:rPr lang="en-US" sz="880" b="0" dirty="0">
                <a:solidFill>
                  <a:srgbClr val="172044"/>
                </a:solidFill>
              </a:rPr>
              <a:t>Roster import of 638 people across 56 teams, with a blocking check keeping personal data out of git</a:t>
            </a:r>
          </a:p>
          <a:p>
            <a:pPr marL="144000" indent="-144000">
              <a:spcBef>
                <a:spcPts val="420"/>
              </a:spcBef>
              <a:buFont typeface="Arial"/>
              <a:buChar char="•"/>
            </a:pPr>
            <a:r>
              <a:rPr lang="en-US" sz="880" b="0" dirty="0">
                <a:solidFill>
                  <a:srgbClr val="172044"/>
                </a:solidFill>
              </a:rPr>
              <a:t>Setup assessment reporting what works, what is degraded and what is blocked</a:t>
            </a:r>
          </a:p>
        </p:txBody>
      </p:sp>
      <p:sp>
        <p:nvSpPr>
          <p:cNvPr id="9" name="Text 7"/>
          <p:cNvSpPr/>
          <p:nvPr/>
        </p:nvSpPr>
        <p:spPr>
          <a:xfrm>
            <a:off x="3813048" y="1728216"/>
            <a:ext cx="228600" cy="228600"/>
          </a:xfrm>
          <a:prstGeom prst="rect">
            <a:avLst/>
          </a:prstGeom>
          <a:noFill/>
          <a:ln/>
        </p:spPr>
        <p:txBody>
          <a:bodyPr wrap="square" lIns="0" tIns="0" rIns="0" bIns="0" rtlCol="0" anchor="ctr"/>
          <a:lstStyle/>
          <a:p>
            <a:pPr marL="0" indent="0" algn="ctr">
              <a:buNone/>
            </a:pPr>
            <a:r>
              <a:rPr lang="en-US" sz="1200" b="1" dirty="0">
                <a:solidFill>
                  <a:srgbClr val="2E6AF6"/>
                </a:solidFill>
              </a:rPr>
              <a:t>A</a:t>
            </a:r>
            <a:endParaRPr lang="en-US" sz="1200" dirty="0"/>
          </a:p>
        </p:txBody>
      </p:sp>
      <p:sp>
        <p:nvSpPr>
          <p:cNvPr id="10" name="Shape 8"/>
          <p:cNvSpPr/>
          <p:nvPr/>
        </p:nvSpPr>
        <p:spPr>
          <a:xfrm>
            <a:off x="4416552" y="1600200"/>
            <a:ext cx="3703320" cy="3401568"/>
          </a:xfrm>
          <a:prstGeom prst="roundRect">
            <a:avLst>
              <a:gd name="adj" fmla="val 2688"/>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1" name="Shape 9"/>
          <p:cNvSpPr/>
          <p:nvPr/>
        </p:nvSpPr>
        <p:spPr>
          <a:xfrm>
            <a:off x="4416552" y="1600200"/>
            <a:ext cx="73152" cy="3401568"/>
          </a:xfrm>
          <a:prstGeom prst="rect">
            <a:avLst/>
          </a:prstGeom>
          <a:solidFill>
            <a:srgbClr val="35C7D8"/>
          </a:solidFill>
          <a:ln w="12700">
            <a:solidFill>
              <a:srgbClr val="35C7D8"/>
            </a:solidFill>
            <a:prstDash val="solid"/>
          </a:ln>
        </p:spPr>
        <p:txBody>
          <a:bodyPr/>
          <a:lstStyle/>
          <a:p>
            <a:endParaRPr lang="en-US"/>
          </a:p>
        </p:txBody>
      </p:sp>
      <p:sp>
        <p:nvSpPr>
          <p:cNvPr id="12" name="Text 10"/>
          <p:cNvSpPr/>
          <p:nvPr/>
        </p:nvSpPr>
        <p:spPr>
          <a:xfrm>
            <a:off x="4617720" y="1755648"/>
            <a:ext cx="3337560"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CONFIGURED, VERIFIED PER ENVIRONMENT</a:t>
            </a:r>
          </a:p>
        </p:txBody>
      </p:sp>
      <p:sp>
        <p:nvSpPr>
          <p:cNvPr id="13" name="Text 11"/>
          <p:cNvSpPr/>
          <p:nvPr/>
        </p:nvSpPr>
        <p:spPr>
          <a:xfrm>
            <a:off x="4617720" y="2039112"/>
            <a:ext cx="3319272"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Live Jira, Confluence, Figma and Teams retrieval through MCP servers</a:t>
            </a:r>
          </a:p>
          <a:p>
            <a:pPr marL="144000" indent="-144000">
              <a:spcBef>
                <a:spcPts val="420"/>
              </a:spcBef>
              <a:buFont typeface="Arial"/>
              <a:buChar char="•"/>
            </a:pPr>
            <a:r>
              <a:rPr lang="en-US" sz="880" b="0" dirty="0">
                <a:solidFill>
                  <a:srgbClr val="172044"/>
                </a:solidFill>
              </a:rPr>
              <a:t>Repository code evidence through the GitHub CLI — reports UNAVAILABLE by name when unauthenticated instead of inventing repository facts</a:t>
            </a:r>
          </a:p>
          <a:p>
            <a:pPr marL="144000" indent="-144000">
              <a:spcBef>
                <a:spcPts val="420"/>
              </a:spcBef>
              <a:buFont typeface="Arial"/>
              <a:buChar char="•"/>
            </a:pPr>
            <a:r>
              <a:rPr lang="en-US" sz="880" b="0" dirty="0">
                <a:solidFill>
                  <a:srgbClr val="172044"/>
                </a:solidFill>
              </a:rPr>
              <a:t>Leave and holiday calendar subscriptions — an unreachable calendar degrades the result and is named, never substituted</a:t>
            </a:r>
          </a:p>
          <a:p>
            <a:pPr marL="144000" indent="-144000">
              <a:spcBef>
                <a:spcPts val="420"/>
              </a:spcBef>
              <a:buFont typeface="Arial"/>
              <a:buChar char="•"/>
            </a:pPr>
            <a:r>
              <a:rPr lang="en-US" sz="880" b="0" dirty="0">
                <a:solidFill>
                  <a:srgbClr val="172044"/>
                </a:solidFill>
              </a:rPr>
              <a:t>Story creation currently runs through a mock Jira adapter and context collection through a fixture provider. Both are named as mocks in the documentation and in the demo, which is exactly why the demo is safe to run on stage.</a:t>
            </a:r>
          </a:p>
        </p:txBody>
      </p:sp>
      <p:sp>
        <p:nvSpPr>
          <p:cNvPr id="14" name="Text 12"/>
          <p:cNvSpPr/>
          <p:nvPr/>
        </p:nvSpPr>
        <p:spPr>
          <a:xfrm>
            <a:off x="7662672" y="1728216"/>
            <a:ext cx="228600" cy="228600"/>
          </a:xfrm>
          <a:prstGeom prst="rect">
            <a:avLst/>
          </a:prstGeom>
          <a:noFill/>
          <a:ln/>
        </p:spPr>
        <p:txBody>
          <a:bodyPr wrap="square" lIns="0" tIns="0" rIns="0" bIns="0" rtlCol="0" anchor="ctr"/>
          <a:lstStyle/>
          <a:p>
            <a:pPr marL="0" indent="0" algn="ctr">
              <a:buNone/>
            </a:pPr>
            <a:r>
              <a:rPr lang="en-US" sz="1200" b="1" dirty="0">
                <a:solidFill>
                  <a:srgbClr val="35C7D8"/>
                </a:solidFill>
              </a:rPr>
              <a:t>B</a:t>
            </a:r>
            <a:endParaRPr lang="en-US" sz="1200" dirty="0"/>
          </a:p>
        </p:txBody>
      </p:sp>
      <p:sp>
        <p:nvSpPr>
          <p:cNvPr id="15" name="Shape 13"/>
          <p:cNvSpPr/>
          <p:nvPr/>
        </p:nvSpPr>
        <p:spPr>
          <a:xfrm>
            <a:off x="8266176" y="1600200"/>
            <a:ext cx="3328416" cy="3401568"/>
          </a:xfrm>
          <a:prstGeom prst="roundRect">
            <a:avLst>
              <a:gd name="adj" fmla="val 2747"/>
            </a:avLst>
          </a:prstGeom>
          <a:solidFill>
            <a:srgbClr val="FFFFFF"/>
          </a:solidFill>
          <a:ln w="12700">
            <a:solidFill>
              <a:srgbClr val="DCE1EE"/>
            </a:solidFill>
            <a:prstDash val="solid"/>
          </a:ln>
          <a:effectLst>
            <a:outerShdw blurRad="25400" dist="12700" dir="2700000" algn="bl" rotWithShape="0">
              <a:srgbClr val="000000">
                <a:alpha val="10000"/>
              </a:srgbClr>
            </a:outerShdw>
          </a:effectLst>
        </p:spPr>
        <p:txBody>
          <a:bodyPr/>
          <a:lstStyle/>
          <a:p>
            <a:endParaRPr lang="en-US"/>
          </a:p>
        </p:txBody>
      </p:sp>
      <p:sp>
        <p:nvSpPr>
          <p:cNvPr id="16" name="Shape 14"/>
          <p:cNvSpPr/>
          <p:nvPr/>
        </p:nvSpPr>
        <p:spPr>
          <a:xfrm>
            <a:off x="8266176" y="1600200"/>
            <a:ext cx="73152" cy="3401568"/>
          </a:xfrm>
          <a:prstGeom prst="rect">
            <a:avLst/>
          </a:prstGeom>
          <a:solidFill>
            <a:srgbClr val="FFC83D"/>
          </a:solidFill>
          <a:ln w="12700">
            <a:solidFill>
              <a:srgbClr val="FFC83D"/>
            </a:solidFill>
            <a:prstDash val="solid"/>
          </a:ln>
        </p:spPr>
        <p:txBody>
          <a:bodyPr/>
          <a:lstStyle/>
          <a:p>
            <a:endParaRPr lang="en-US"/>
          </a:p>
        </p:txBody>
      </p:sp>
      <p:sp>
        <p:nvSpPr>
          <p:cNvPr id="17" name="Text 15"/>
          <p:cNvSpPr/>
          <p:nvPr/>
        </p:nvSpPr>
        <p:spPr>
          <a:xfrm>
            <a:off x="8467344" y="1755648"/>
            <a:ext cx="2962656" cy="201168"/>
          </a:xfrm>
          <a:prstGeom prst="rect">
            <a:avLst/>
          </a:prstGeom>
          <a:noFill/>
          <a:ln/>
        </p:spPr>
        <p:txBody>
          <a:bodyPr wrap="square" lIns="0" tIns="0" rIns="0" bIns="0" rtlCol="0" anchor="ctr">
            <a:normAutofit/>
          </a:bodyPr>
          <a:lstStyle/>
          <a:p>
            <a:pPr marL="0" indent="0">
              <a:buNone/>
            </a:pPr>
            <a:r>
              <a:rPr lang="en-US" sz="850" b="0" dirty="0">
                <a:solidFill>
                  <a:srgbClr val="5E6784"/>
                </a:solidFill>
              </a:rPr>
              <a:t>DELIBERATELY NOT INCLUDED</a:t>
            </a:r>
          </a:p>
        </p:txBody>
      </p:sp>
      <p:sp>
        <p:nvSpPr>
          <p:cNvPr id="18" name="Text 16"/>
          <p:cNvSpPr/>
          <p:nvPr/>
        </p:nvSpPr>
        <p:spPr>
          <a:xfrm>
            <a:off x="8467344" y="2039112"/>
            <a:ext cx="2944368" cy="2816352"/>
          </a:xfrm>
          <a:prstGeom prst="rect">
            <a:avLst/>
          </a:prstGeom>
          <a:noFill/>
          <a:ln/>
        </p:spPr>
        <p:txBody>
          <a:bodyPr wrap="square" lIns="381" tIns="381" rIns="381" bIns="381" rtlCol="0" anchor="t">
            <a:normAutofit/>
          </a:bodyPr>
          <a:lstStyle/>
          <a:p>
            <a:pPr marL="144000" indent="-144000">
              <a:buFont typeface="Arial"/>
              <a:buChar char="•"/>
            </a:pPr>
            <a:r>
              <a:rPr lang="en-US" sz="880" b="0" dirty="0">
                <a:solidFill>
                  <a:srgbClr val="172044"/>
                </a:solidFill>
              </a:rPr>
              <a:t>Updating, transitioning or deleting Jira issues — no such code path exists</a:t>
            </a:r>
          </a:p>
          <a:p>
            <a:pPr marL="144000" indent="-144000">
              <a:spcBef>
                <a:spcPts val="420"/>
              </a:spcBef>
              <a:buFont typeface="Arial"/>
              <a:buChar char="•"/>
            </a:pPr>
            <a:r>
              <a:rPr lang="en-US" sz="880" b="0" dirty="0">
                <a:solidFill>
                  <a:srgbClr val="172044"/>
                </a:solidFill>
              </a:rPr>
              <a:t>Automatic threshold learning from feedback — thresholds stay human-owned and versioned</a:t>
            </a:r>
          </a:p>
          <a:p>
            <a:pPr marL="144000" indent="-144000">
              <a:spcBef>
                <a:spcPts val="420"/>
              </a:spcBef>
              <a:buFont typeface="Arial"/>
              <a:buChar char="•"/>
            </a:pPr>
            <a:r>
              <a:rPr lang="en-US" sz="880" b="0" dirty="0">
                <a:solidFill>
                  <a:srgbClr val="172044"/>
                </a:solidFill>
              </a:rPr>
              <a:t>Generating automated test code — we recommend candidates with reasons; engineers write the code</a:t>
            </a:r>
          </a:p>
          <a:p>
            <a:pPr marL="144000" indent="-144000">
              <a:spcBef>
                <a:spcPts val="420"/>
              </a:spcBef>
              <a:buFont typeface="Arial"/>
              <a:buChar char="•"/>
            </a:pPr>
            <a:r>
              <a:rPr lang="en-US" sz="880" b="0" dirty="0">
                <a:solidFill>
                  <a:srgbClr val="172044"/>
                </a:solidFill>
              </a:rPr>
              <a:t>Uploading to a test management tool — out of scope for this milestone</a:t>
            </a:r>
          </a:p>
          <a:p>
            <a:pPr marL="144000" indent="-144000">
              <a:spcBef>
                <a:spcPts val="420"/>
              </a:spcBef>
              <a:buFont typeface="Arial"/>
              <a:buChar char="•"/>
            </a:pPr>
            <a:r>
              <a:rPr lang="en-US" sz="880" b="0" dirty="0">
                <a:solidFill>
                  <a:srgbClr val="172044"/>
                </a:solidFill>
              </a:rPr>
              <a:t>Closing sprints automatically — RefineAI judges whether a sprint can close; a human closes it</a:t>
            </a:r>
          </a:p>
        </p:txBody>
      </p:sp>
      <p:sp>
        <p:nvSpPr>
          <p:cNvPr id="19" name="Text 17"/>
          <p:cNvSpPr/>
          <p:nvPr/>
        </p:nvSpPr>
        <p:spPr>
          <a:xfrm>
            <a:off x="11137392" y="1728216"/>
            <a:ext cx="228600" cy="228600"/>
          </a:xfrm>
          <a:prstGeom prst="rect">
            <a:avLst/>
          </a:prstGeom>
          <a:noFill/>
          <a:ln/>
        </p:spPr>
        <p:txBody>
          <a:bodyPr wrap="square" lIns="0" tIns="0" rIns="0" bIns="0" rtlCol="0" anchor="ctr"/>
          <a:lstStyle/>
          <a:p>
            <a:pPr marL="0" indent="0" algn="ctr">
              <a:buNone/>
            </a:pPr>
            <a:r>
              <a:rPr lang="en-US" sz="1200" b="1" dirty="0">
                <a:solidFill>
                  <a:srgbClr val="FFC83D"/>
                </a:solidFill>
              </a:rPr>
              <a:t>C</a:t>
            </a:r>
            <a:endParaRPr lang="en-US" sz="1200" dirty="0"/>
          </a:p>
        </p:txBody>
      </p:sp>
      <p:sp>
        <p:nvSpPr>
          <p:cNvPr id="20" name="Shape 18"/>
          <p:cNvSpPr/>
          <p:nvPr/>
        </p:nvSpPr>
        <p:spPr>
          <a:xfrm>
            <a:off x="566928" y="5257800"/>
            <a:ext cx="1408176" cy="310896"/>
          </a:xfrm>
          <a:prstGeom prst="roundRect">
            <a:avLst>
              <a:gd name="adj" fmla="val 23529"/>
            </a:avLst>
          </a:prstGeom>
          <a:solidFill>
            <a:srgbClr val="08124F"/>
          </a:solidFill>
          <a:ln w="12700">
            <a:solidFill>
              <a:srgbClr val="08124F"/>
            </a:solidFill>
            <a:prstDash val="solid"/>
          </a:ln>
        </p:spPr>
        <p:txBody>
          <a:bodyPr/>
          <a:lstStyle/>
          <a:p>
            <a:endParaRPr lang="en-US"/>
          </a:p>
        </p:txBody>
      </p:sp>
      <p:sp>
        <p:nvSpPr>
          <p:cNvPr id="21" name="Text 19"/>
          <p:cNvSpPr/>
          <p:nvPr/>
        </p:nvSpPr>
        <p:spPr>
          <a:xfrm>
            <a:off x="566928" y="5321808"/>
            <a:ext cx="1408176" cy="146304"/>
          </a:xfrm>
          <a:prstGeom prst="rect">
            <a:avLst/>
          </a:prstGeom>
          <a:noFill/>
          <a:ln/>
        </p:spPr>
        <p:txBody>
          <a:bodyPr wrap="square" lIns="0" tIns="0" rIns="0" bIns="0" rtlCol="0" anchor="ctr"/>
          <a:lstStyle/>
          <a:p>
            <a:pPr marL="0" indent="0" algn="ctr">
              <a:buNone/>
            </a:pPr>
            <a:r>
              <a:rPr lang="en-US" sz="850" b="0" dirty="0">
                <a:solidFill>
                  <a:srgbClr val="FFFFFF"/>
                </a:solidFill>
              </a:rPr>
              <a:t>WHY THIS MATTERS</a:t>
            </a:r>
          </a:p>
        </p:txBody>
      </p:sp>
      <p:sp>
        <p:nvSpPr>
          <p:cNvPr id="22" name="Text 20"/>
          <p:cNvSpPr/>
          <p:nvPr/>
        </p:nvSpPr>
        <p:spPr>
          <a:xfrm>
            <a:off x="2070735" y="5321808"/>
            <a:ext cx="7223760" cy="219456"/>
          </a:xfrm>
          <a:prstGeom prst="rect">
            <a:avLst/>
          </a:prstGeom>
          <a:noFill/>
          <a:ln/>
        </p:spPr>
        <p:txBody>
          <a:bodyPr wrap="square" lIns="0" tIns="0" rIns="0" bIns="0" rtlCol="0" anchor="ctr"/>
          <a:lstStyle/>
          <a:p>
            <a:pPr marL="0" indent="0">
              <a:buNone/>
            </a:pPr>
            <a:r>
              <a:rPr lang="en-US" sz="950" b="0" dirty="0">
                <a:solidFill>
                  <a:srgbClr val="5E6784"/>
                </a:solidFill>
              </a:rPr>
              <a:t>A tool that overstates itself is a tool people stop reading. Drawing the line honestly is part of the product.</a:t>
            </a:r>
          </a:p>
        </p:txBody>
      </p:sp>
      <p:sp>
        <p:nvSpPr>
          <p:cNvPr id="25" name="Slide Number Placeholder 0"/>
          <p:cNvSpPr>
            <a:spLocks noGrp="1"/>
          </p:cNvSpPr>
          <p:nvPr>
            <p:ph type="sldNum" sz="quarter" idx="4294967295"/>
          </p:nvPr>
        </p:nvSpPr>
        <p:spPr>
          <a:xfrm>
            <a:off x="11391900" y="6446838"/>
            <a:ext cx="800100" cy="300037"/>
          </a:xfrm>
          <a:prstGeom prst="rect">
            <a:avLst/>
          </a:prstGeom>
          <a:extLst>
            <a:ext uri="{C572A759-6A51-4108-AA02-DFA0A04FC94B}">
              <ma14:wrappingTextBoxFlag xmlns="" xmlns:ma14="http://schemas.microsoft.com/office/mac/drawingml/2011/main" val="0"/>
            </a:ext>
          </a:extLst>
        </p:spPr>
        <p:txBody>
          <a:bodyPr/>
          <a:lstStyle>
            <a:lvl1pPr>
              <a:defRPr sz="800">
                <a:solidFill>
                  <a:srgbClr val="9AA3BC"/>
                </a:solidFill>
                <a:latin typeface="Aptos"/>
                <a:ea typeface="Aptos"/>
                <a:cs typeface="Aptos"/>
              </a:defRPr>
            </a:lvl1pPr>
          </a:lstStyle>
          <a:p>
            <a:pPr algn="l"/>
            <a:fld id="{F7021451-1387-4CA6-816F-3879F97B5CBC}" type="slidenum">
              <a:rPr lang="en-US" b="0"/>
              <a:t>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025EFDF-9D9B-3D7D-C012-1B88B78D4107}"/>
              </a:ext>
            </a:extLst>
          </p:cNvPr>
          <p:cNvSpPr>
            <a:spLocks noGrp="1"/>
          </p:cNvSpPr>
          <p:nvPr>
            <p:ph type="ctrTitle"/>
          </p:nvPr>
        </p:nvSpPr>
        <p:spPr>
          <a:xfrm>
            <a:off x="3983539" y="1900000"/>
            <a:ext cx="8642082" cy="2600000"/>
          </a:xfrm>
        </p:spPr>
        <p:txBody>
          <a:bodyPr/>
          <a:lstStyle/>
          <a:p>
            <a:pPr marL="0" indent="0">
              <a:buNone/>
            </a:pPr>
            <a:r>
              <a:rPr lang="en-US" sz="5400" b="1" dirty="0">
                <a:solidFill>
                  <a:srgbClr val="FFFFFF"/>
                </a:solidFill>
              </a:rPr>
              <a:t>Thank You</a:t>
            </a:r>
          </a:p>
          <a:p>
            <a:pPr marL="0" indent="0">
              <a:spcBef>
                <a:spcPts val="700"/>
              </a:spcBef>
              <a:buNone/>
            </a:pPr>
            <a:r>
              <a:rPr lang="en-US" sz="2000" b="1" dirty="0">
                <a:solidFill>
                  <a:srgbClr val="A9BFFF"/>
                </a:solidFill>
              </a:rPr>
              <a:t>Team Alchemist  ·  RefineAI</a:t>
            </a:r>
          </a:p>
          <a:p>
            <a:pPr marL="0" indent="0">
              <a:spcBef>
                <a:spcPts val="300"/>
              </a:spcBef>
              <a:buNone/>
            </a:pPr>
            <a:r>
              <a:rPr lang="en-US" sz="1200" b="0" dirty="0">
                <a:solidFill>
                  <a:srgbClr val="E5E9F7"/>
                </a:solidFill>
              </a:rPr>
              <a:t>github.com/niq-enterprise/refineai-product-delivery</a:t>
            </a:r>
          </a:p>
        </p:txBody>
      </p:sp>
    </p:spTree>
    <p:extLst>
      <p:ext uri="{BB962C8B-B14F-4D97-AF65-F5344CB8AC3E}">
        <p14:creationId xmlns:p14="http://schemas.microsoft.com/office/powerpoint/2010/main" val="1133803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6e91b8d-674e-4c71-8a1d-1030b9c6dc0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22D5052B248C4092CACD9E442F8BC0" ma:contentTypeVersion="16" ma:contentTypeDescription="Create a new document." ma:contentTypeScope="" ma:versionID="9829568d1d9013630a0c74e6a2965ad4">
  <xsd:schema xmlns:xsd="http://www.w3.org/2001/XMLSchema" xmlns:xs="http://www.w3.org/2001/XMLSchema" xmlns:p="http://schemas.microsoft.com/office/2006/metadata/properties" xmlns:ns3="0e2ce0fd-d51b-4eb8-8fb7-e83546328ee7" xmlns:ns4="76e91b8d-674e-4c71-8a1d-1030b9c6dc0f" targetNamespace="http://schemas.microsoft.com/office/2006/metadata/properties" ma:root="true" ma:fieldsID="5c36772c18addfda6ab1b11394b61953" ns3:_="" ns4:_="">
    <xsd:import namespace="0e2ce0fd-d51b-4eb8-8fb7-e83546328ee7"/>
    <xsd:import namespace="76e91b8d-674e-4c71-8a1d-1030b9c6dc0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LengthInSeconds" minOccurs="0"/>
                <xsd:element ref="ns4:MediaServiceAutoTags" minOccurs="0"/>
                <xsd:element ref="ns4:MediaServiceOCR" minOccurs="0"/>
                <xsd:element ref="ns4:MediaServiceGenerationTime" minOccurs="0"/>
                <xsd:element ref="ns4:MediaServiceEventHashCode" minOccurs="0"/>
                <xsd:element ref="ns4:MediaServiceDateTaken" minOccurs="0"/>
                <xsd:element ref="ns4:_activity" minOccurs="0"/>
                <xsd:element ref="ns4:MediaServiceObjectDetectorVersions" minOccurs="0"/>
                <xsd:element ref="ns4:MediaServiceLocation"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e2ce0fd-d51b-4eb8-8fb7-e83546328ee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e91b8d-674e-4c71-8a1d-1030b9c6dc0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LengthInSeconds" ma:index="13" nillable="true" ma:displayName="Length (seconds)"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D33E1CF-5378-4C3D-B917-47CD67D882CD}">
  <ds:schemaRefs>
    <ds:schemaRef ds:uri="http://www.w3.org/XML/1998/namespace"/>
    <ds:schemaRef ds:uri="http://schemas.microsoft.com/office/2006/metadata/properties"/>
    <ds:schemaRef ds:uri="76e91b8d-674e-4c71-8a1d-1030b9c6dc0f"/>
    <ds:schemaRef ds:uri="http://purl.org/dc/elements/1.1/"/>
    <ds:schemaRef ds:uri="http://purl.org/dc/dcmitype/"/>
    <ds:schemaRef ds:uri="http://schemas.microsoft.com/office/infopath/2007/PartnerControls"/>
    <ds:schemaRef ds:uri="http://schemas.microsoft.com/office/2006/documentManagement/types"/>
    <ds:schemaRef ds:uri="http://purl.org/dc/terms/"/>
    <ds:schemaRef ds:uri="http://schemas.openxmlformats.org/package/2006/metadata/core-properties"/>
    <ds:schemaRef ds:uri="0e2ce0fd-d51b-4eb8-8fb7-e83546328ee7"/>
  </ds:schemaRefs>
</ds:datastoreItem>
</file>

<file path=customXml/itemProps2.xml><?xml version="1.0" encoding="utf-8"?>
<ds:datastoreItem xmlns:ds="http://schemas.openxmlformats.org/officeDocument/2006/customXml" ds:itemID="{552591A2-CBFF-4218-9C51-2B4FBF7F195A}">
  <ds:schemaRefs>
    <ds:schemaRef ds:uri="http://schemas.microsoft.com/sharepoint/v3/contenttype/forms"/>
  </ds:schemaRefs>
</ds:datastoreItem>
</file>

<file path=customXml/itemProps3.xml><?xml version="1.0" encoding="utf-8"?>
<ds:datastoreItem xmlns:ds="http://schemas.openxmlformats.org/officeDocument/2006/customXml" ds:itemID="{B2649029-4F70-49DD-9429-0FED90E69E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e2ce0fd-d51b-4eb8-8fb7-e83546328ee7"/>
    <ds:schemaRef ds:uri="76e91b8d-674e-4c71-8a1d-1030b9c6dc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TotalTime>
  <Words>492</Words>
  <Application>Microsoft Office PowerPoint</Application>
  <PresentationFormat>Widescreen</PresentationFormat>
  <Paragraphs>89</Paragraphs>
  <Slides>6</Slides>
  <Notes>5</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Thank You</vt:lpstr>
    </vt:vector>
  </TitlesOfParts>
  <Company>NIQ</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Hackfest 2026 Solution Presentation Template</dc:title>
  <dc:subject>Hackfest 2026 Solution Presentation Template</dc:subject>
  <dc:creator>Innovation Council</dc:creator>
  <cp:lastModifiedBy>Damotharan Sundaram</cp:lastModifiedBy>
  <cp:revision>8</cp:revision>
  <dcterms:created xsi:type="dcterms:W3CDTF">2026-09-10T08:15:12Z</dcterms:created>
  <dcterms:modified xsi:type="dcterms:W3CDTF">2026-09-17T07:13:16Z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0x0101006922D5052B248C4092CACD9E442F8BC0</vt:lpwstr>
  </property>
</Properties>
</file>